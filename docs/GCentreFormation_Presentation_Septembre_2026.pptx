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Shamsedine Tayeb. Je vous présente GCentreFormation, aussi appelé FormaPlus. C’est une application desktop écrite en C++, avec Qt 6.8.3 et qmake. Elle sert à gérer un centre de formation. J’ai choisi deux modules parmi ceux du sujet : les formateurs et les cours. La base de données est Oracle XE, reliée par QODBC. Dans les minutes qui viennent, je vais vous montrer le périmètre, l’architecture réelle, la base, le CRUD, puis les métiers qui sont vraiment dans le code. Ensuite je ferai la démo.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besoin est concret. Un centre de formation doit suivre ses formateurs et son catalogue de cours au même endroit. Ces deux modules sont liés : un cours a toujours un formateur, un formateur peut n’avoir aucun cours ou plusieurs. L’objectif, c’est une application desktop claire, pas un site web. On peut ajouter, modifier, supprimer, contrôler les données, et voir les indicateurs. Je me suis limité au sujet officiel de septembre 2026. Je n’ai pas ajouté de fonctionnalités hors énoncé.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sujet demande deux modules. J’ai choisi Formateurs et Cours, parce qu’ils sont liés. Pour chaque module, le CRUD est implémenté. Il y a aussi la recherche et le tri avec au moins trois critères, les statistiques avec graphiques, et un document PDF personnalisé. Ensuite deux métiers utiles. Côté formateurs : la charge pédagogique et les conflits de planning. Côté cours : l’affectation d’un formateur et les alertes. Tout ça est dans l’application, pas seulement dans le rapport. Je pourrai le montrer à l’écran.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l’architecture réelle. L’utilisateur passe par l’interface Qt : une barre latérale, un Stacked Widget et des onglets. Les boutons n’écrivent pas de SQL. Ils appellent les classes Formateur et Cours. C’est là que se trouvent toutes les requêtes. La connexion passe par un Singleton, Connection::instance. Ensuite QODBC, puis Oracle XE, avec le DSN Source_Projet2A. Le sujet impose une seule connexion. Le projet est compilé avec qmake, Qt 6.8.3 et MinGW. Je ne présente pas ça comme un MVC : ce n’est pas le patron que j’ai nommé dans le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conception suit MCD, puis MLD, puis MPD Oracle. L’association s’appelle enseigne. Un formateur enseigne zéro à N cours. Un cours a exactement un formateur. Au niveau MCD, on ne met pas encore la clé étrangère. Elle apparaît au MLD, portée par COURS. Dans Oracle, on a les clés primaires, la clé étrangère, UNIQUE sur le CIN et l’e-mail, des CHECK, plus des séquences et des triggers pour générer les ID. Si on essaie de supprimer un formateur qui a encore des cours, Oracle refuse avec ORA-02292. Il n’y a pas de ON DELETE CASCADE.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écrans réels de l’application, pas des maquettes. À gauche, les formateurs. À droite, les cours. Dans les deux cas : ajouter, afficher, modifier, supprimer. Avant l’INSERT ou l’UPDATE, la méthode valider contrôle la saisie. Par exemple, le CIN doit avoir exactement 8 chiffres, l’e-mail doit être valide. Oracle contrôle aussi, avec CHECK, UNIQUE et la clé étrangère. Si un formateur a encore des cours, la suppression est refusée. L’utilisateur voit un message métier, pas seulement un code Oracle.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métiers communs aux deux modules : recherche multicritères, au moins trois critères, tri, statistiques, et graphiques mis à jour après chaque CRUD grâce à chargerTout. Le document est uniquement en PDF, généré avec QPdfWriter. Ce n’est pas une capture d’écran : il y a un en-tête FormaPlus, des tableaux et un pied de page. En plus, pour les formateurs, je calcule la charge pédagogique et je détecte les conflits quand le même formateur a des cours qui se chevauchent. Pour les cours, j’affecte un formateur et j’affiche des alertes : début dans sept jours, formateur inactif, ou chevauchement.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points présents dans le code. Premier : le Singleton. Connection::instance crée une seule connexion. Le constructeur est privé, la copie est interdite. Deuxième : prepare, bindValue, exec. On n’assemble pas les valeurs dans la chaîne SQL. Les requêtes préparées réduisent les risques d’injection SQL. Pour le tri, seules des colonnes autorisées sont acceptées. Troisième : validation des deux côtés, C++ et Oracle. Quatrième : aucune requête derrière un bouton. Les slots appellent seulement le modèle. Je ne revendique pas d’autre mécanisme de sécurité que ça.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à la démonstration, dans cet ordre. D’abord l’accueil : les indicateurs et les graphiques. Ensuite les formateurs : CRUD, puis recherche et tri, puis les statistiques qui se mettent à jour, puis le PDF, puis la charge et les conflits. Ensuite les cours : CRUD, recherche et statistiques, affectation et alertes. Si le jury le demande, je tente de supprimer un formateur qui a encore des cours : Oracle refuse. Je ne supprime pas de vraies données importantes juste pour montrer. L’image à droite est une capture réelle de l’accueil.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le projet implémente deux modules, Formateurs et Cours. Le CRUD fonctionne, avec une validation en C++ et dans Oracle. Les métiers demandés sont là : recherche, tri, statistiques live, PDF, plus la charge, les conflits, l’affectation et les alertes. Oracle est intégré avec PK, FK, CHECK, séquences et triggers. L’application est desktop Qt et C++, avec un Singleton et des requêtes préparées. Le projet est prêt pour la validation. Merci pour votre attention. Je suis disponible pour vos questions.</a:t>
            </a:r>
          </a:p>
          <a:p/>
          <a:p>
            <a:r>
              <a:t>Questions techniques possibles</a:t>
            </a:r>
          </a:p>
          <a:p>
            <a:r>
              <a:t>• Pourquoi Singleton ? Le sujet impose une seule connexion. Connection::instance crée une unique instance QODBC.</a:t>
            </a:r>
          </a:p>
          <a:p>
            <a:r>
              <a:t>• Pourquoi Oracle ? Imposé par l’énoncé. Ici Oracle XE via QODBC et le DSN Source_Projet2A.</a:t>
            </a:r>
          </a:p>
          <a:p>
            <a:r>
              <a:t>• Pourquoi Qt ? Le sujet demande une application desktop avec le framework Qt.</a:t>
            </a:r>
          </a:p>
          <a:p>
            <a:r>
              <a:t>• Où est le SQL ? Dans Formateur et Cours uniquement. Pas dans les slots des boutons.</a:t>
            </a:r>
          </a:p>
          <a:p>
            <a:r>
              <a:t>• Pourquoi prepare/bindValue ? La valeur n’est pas collée dans le SQL. Ça réduit l’injection SQL.</a:t>
            </a:r>
          </a:p>
          <a:p>
            <a:r>
              <a:t>• Comment fonctionne le CRUD ? ajouter, afficher, modifier, supprimer dans les classes métier, puis chargerTout.</a:t>
            </a:r>
          </a:p>
          <a:p>
            <a:r>
              <a:t>• Recherche multicritères ? Au moins trois critères, avec bindValue. Formateurs : nom, spécialité, statut. Cours : titre, niveau, statut.</a:t>
            </a:r>
          </a:p>
          <a:p>
            <a:r>
              <a:t>• Statistiques ? GROUP BY, puis Qt Charts. Mis à jour après chaque CRUD via chargerTout.</a:t>
            </a:r>
          </a:p>
          <a:p>
            <a:r>
              <a:t>• PDF ? QPdfWriter, document personnalisé, un seul format, pas une capture d’écran.</a:t>
            </a:r>
          </a:p>
          <a:p>
            <a:r>
              <a:t>• Relation Formateur/Cours ? enseigne : FORMATEUR (0,N) — COURS (1,1).</a:t>
            </a:r>
          </a:p>
          <a:p>
            <a:r>
              <a:t>• Contraintes FK ? Pas de CASCADE. Supprimer un formateur utilisé → ORA-02292.</a:t>
            </a:r>
          </a:p>
          <a:p>
            <a:r>
              <a:t>• Pourquoi Formateurs + Cours ? Deux modules liés, ça justifie la clé étrangère et les métiers.</a:t>
            </a:r>
          </a:p>
          <a:p>
            <a:r>
              <a:t>Arduino / marketing / teamwork : N/A — NOT REQUIRED BY SEPTEMBER 2026 SUBJECT.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365760"/>
          </a:xfrm>
          <a:prstGeom prst="rect">
            <a:avLst/>
          </a:prstGeom>
          <a:noFill/>
        </p:spPr>
        <p:txBody>
          <a:bodyPr wrap="square">
            <a:spAutoFit/>
          </a:bodyPr>
          <a:lstStyle/>
          <a:p>
            <a:pPr algn="l"/>
            <a:r>
              <a:rPr sz="1400" b="1">
                <a:solidFill>
                  <a:srgbClr val="1AA396"/>
                </a:solidFill>
                <a:latin typeface="Calibri"/>
              </a:rPr>
              <a:t>VALIDATION  ·  SEPTEMBRE 2026</a:t>
            </a:r>
          </a:p>
        </p:txBody>
      </p:sp>
      <p:sp>
        <p:nvSpPr>
          <p:cNvPr id="5" name="TextBox 4"/>
          <p:cNvSpPr txBox="1"/>
          <p:nvPr/>
        </p:nvSpPr>
        <p:spPr>
          <a:xfrm>
            <a:off x="731520" y="1828800"/>
            <a:ext cx="10972800" cy="777240"/>
          </a:xfrm>
          <a:prstGeom prst="rect">
            <a:avLst/>
          </a:prstGeom>
          <a:noFill/>
        </p:spPr>
        <p:txBody>
          <a:bodyPr wrap="square">
            <a:spAutoFit/>
          </a:bodyPr>
          <a:lstStyle/>
          <a:p>
            <a:pPr algn="l"/>
            <a:r>
              <a:rPr sz="4400" b="1">
                <a:solidFill>
                  <a:srgbClr val="FFFFFF"/>
                </a:solidFill>
                <a:latin typeface="Calibri"/>
              </a:rPr>
              <a:t>GCentreFormation</a:t>
            </a:r>
          </a:p>
        </p:txBody>
      </p:sp>
      <p:sp>
        <p:nvSpPr>
          <p:cNvPr id="6" name="TextBox 5"/>
          <p:cNvSpPr txBox="1"/>
          <p:nvPr/>
        </p:nvSpPr>
        <p:spPr>
          <a:xfrm>
            <a:off x="731520" y="2606040"/>
            <a:ext cx="10972800" cy="502920"/>
          </a:xfrm>
          <a:prstGeom prst="rect">
            <a:avLst/>
          </a:prstGeom>
          <a:noFill/>
        </p:spPr>
        <p:txBody>
          <a:bodyPr wrap="square">
            <a:spAutoFit/>
          </a:bodyPr>
          <a:lstStyle/>
          <a:p>
            <a:pPr algn="l"/>
            <a:r>
              <a:rPr sz="3200" b="1">
                <a:solidFill>
                  <a:srgbClr val="1AA396"/>
                </a:solidFill>
                <a:latin typeface="Calibri"/>
              </a:rPr>
              <a:t>FormaPlus</a:t>
            </a:r>
          </a:p>
        </p:txBody>
      </p:sp>
      <p:sp>
        <p:nvSpPr>
          <p:cNvPr id="7" name="TextBox 6"/>
          <p:cNvSpPr txBox="1"/>
          <p:nvPr/>
        </p:nvSpPr>
        <p:spPr>
          <a:xfrm>
            <a:off x="731520" y="3291840"/>
            <a:ext cx="10515600" cy="457200"/>
          </a:xfrm>
          <a:prstGeom prst="rect">
            <a:avLst/>
          </a:prstGeom>
          <a:noFill/>
        </p:spPr>
        <p:txBody>
          <a:bodyPr wrap="square">
            <a:spAutoFit/>
          </a:bodyPr>
          <a:lstStyle/>
          <a:p>
            <a:pPr algn="l"/>
            <a:r>
              <a:rPr sz="2000" b="0">
                <a:solidFill>
                  <a:srgbClr val="D5DEE6"/>
                </a:solidFill>
                <a:latin typeface="Calibri"/>
              </a:rPr>
              <a:t>Application desktop de gestion d’un centre de formation</a:t>
            </a:r>
          </a:p>
        </p:txBody>
      </p:sp>
      <p:sp>
        <p:nvSpPr>
          <p:cNvPr id="8" name="Rectangle 7"/>
          <p:cNvSpPr/>
          <p:nvPr/>
        </p:nvSpPr>
        <p:spPr>
          <a:xfrm>
            <a:off x="731520" y="3977639"/>
            <a:ext cx="2011680" cy="54864"/>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297680"/>
            <a:ext cx="10058400" cy="365760"/>
          </a:xfrm>
          <a:prstGeom prst="rect">
            <a:avLst/>
          </a:prstGeom>
          <a:noFill/>
        </p:spPr>
        <p:txBody>
          <a:bodyPr wrap="square">
            <a:spAutoFit/>
          </a:bodyPr>
          <a:lstStyle/>
          <a:p>
            <a:pPr algn="l"/>
            <a:r>
              <a:rPr sz="1800" b="1">
                <a:solidFill>
                  <a:srgbClr val="FFFFFF"/>
                </a:solidFill>
                <a:latin typeface="Calibri"/>
              </a:rPr>
              <a:t>Shamsedine Tayeb</a:t>
            </a:r>
          </a:p>
        </p:txBody>
      </p:sp>
      <p:sp>
        <p:nvSpPr>
          <p:cNvPr id="10" name="TextBox 9"/>
          <p:cNvSpPr txBox="1"/>
          <p:nvPr/>
        </p:nvSpPr>
        <p:spPr>
          <a:xfrm>
            <a:off x="731520" y="4709160"/>
            <a:ext cx="10058400" cy="365760"/>
          </a:xfrm>
          <a:prstGeom prst="rect">
            <a:avLst/>
          </a:prstGeom>
          <a:noFill/>
        </p:spPr>
        <p:txBody>
          <a:bodyPr wrap="square">
            <a:spAutoFit/>
          </a:bodyPr>
          <a:lstStyle/>
          <a:p>
            <a:pPr algn="l"/>
            <a:r>
              <a:rPr sz="1500" b="0">
                <a:solidFill>
                  <a:srgbClr val="A8BBC8"/>
                </a:solidFill>
                <a:latin typeface="Calibri"/>
              </a:rPr>
              <a:t>Qt / C++  ·  Oracle XE  ·  Modules Formateurs et Cours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960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Contexte et objectif</a:t>
            </a:r>
          </a:p>
        </p:txBody>
      </p:sp>
      <p:sp>
        <p:nvSpPr>
          <p:cNvPr id="6" name="TextBox 5"/>
          <p:cNvSpPr txBox="1"/>
          <p:nvPr/>
        </p:nvSpPr>
        <p:spPr>
          <a:xfrm>
            <a:off x="457200" y="640080"/>
            <a:ext cx="10972800" cy="320040"/>
          </a:xfrm>
          <a:prstGeom prst="rect">
            <a:avLst/>
          </a:prstGeom>
          <a:noFill/>
        </p:spPr>
        <p:txBody>
          <a:bodyPr wrap="square">
            <a:spAutoFit/>
          </a:bodyPr>
          <a:lstStyle/>
          <a:p>
            <a:pPr algn="l"/>
            <a:r>
              <a:rPr sz="1300" b="0">
                <a:solidFill>
                  <a:srgbClr val="B8C9D6"/>
                </a:solidFill>
                <a:latin typeface="Calibri"/>
              </a:rPr>
              <a:t>Pourquoi cette application</a:t>
            </a:r>
          </a:p>
        </p:txBody>
      </p:sp>
      <p:sp>
        <p:nvSpPr>
          <p:cNvPr id="7" name="Rounded Rectangle 6"/>
          <p:cNvSpPr/>
          <p:nvPr/>
        </p:nvSpPr>
        <p:spPr>
          <a:xfrm>
            <a:off x="457200" y="1417320"/>
            <a:ext cx="5577840" cy="201168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109728" cy="2011680"/>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91640"/>
            <a:ext cx="5029200" cy="411480"/>
          </a:xfrm>
          <a:prstGeom prst="rect">
            <a:avLst/>
          </a:prstGeom>
          <a:noFill/>
        </p:spPr>
        <p:txBody>
          <a:bodyPr wrap="square">
            <a:spAutoFit/>
          </a:bodyPr>
          <a:lstStyle/>
          <a:p>
            <a:pPr algn="l"/>
            <a:r>
              <a:rPr sz="2000" b="1">
                <a:solidFill>
                  <a:srgbClr val="0B1F3A"/>
                </a:solidFill>
                <a:latin typeface="Calibri"/>
              </a:rPr>
              <a:t>Centre de formation</a:t>
            </a:r>
          </a:p>
        </p:txBody>
      </p:sp>
      <p:sp>
        <p:nvSpPr>
          <p:cNvPr id="10" name="TextBox 9"/>
          <p:cNvSpPr txBox="1"/>
          <p:nvPr/>
        </p:nvSpPr>
        <p:spPr>
          <a:xfrm>
            <a:off x="822960" y="2240280"/>
            <a:ext cx="5029200" cy="914400"/>
          </a:xfrm>
          <a:prstGeom prst="rect">
            <a:avLst/>
          </a:prstGeom>
          <a:noFill/>
        </p:spPr>
        <p:txBody>
          <a:bodyPr wrap="square">
            <a:spAutoFit/>
          </a:bodyPr>
          <a:lstStyle/>
          <a:p>
            <a:pPr algn="l"/>
            <a:r>
              <a:rPr sz="1600" b="0">
                <a:solidFill>
                  <a:srgbClr val="4A5B6B"/>
                </a:solidFill>
                <a:latin typeface="Calibri"/>
              </a:rPr>
              <a:t>Besoin de suivre les formateurs et le catalogue de cours au même endroit.</a:t>
            </a:r>
          </a:p>
        </p:txBody>
      </p:sp>
      <p:sp>
        <p:nvSpPr>
          <p:cNvPr id="11" name="Rounded Rectangle 10"/>
          <p:cNvSpPr/>
          <p:nvPr/>
        </p:nvSpPr>
        <p:spPr>
          <a:xfrm>
            <a:off x="6309360" y="1417320"/>
            <a:ext cx="5577840" cy="201168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417320"/>
            <a:ext cx="109728" cy="2011680"/>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91640"/>
            <a:ext cx="5029200" cy="411480"/>
          </a:xfrm>
          <a:prstGeom prst="rect">
            <a:avLst/>
          </a:prstGeom>
          <a:noFill/>
        </p:spPr>
        <p:txBody>
          <a:bodyPr wrap="square">
            <a:spAutoFit/>
          </a:bodyPr>
          <a:lstStyle/>
          <a:p>
            <a:pPr algn="l"/>
            <a:r>
              <a:rPr sz="2000" b="1">
                <a:solidFill>
                  <a:srgbClr val="0B1F3A"/>
                </a:solidFill>
                <a:latin typeface="Calibri"/>
              </a:rPr>
              <a:t>Deux modules liés</a:t>
            </a:r>
          </a:p>
        </p:txBody>
      </p:sp>
      <p:sp>
        <p:nvSpPr>
          <p:cNvPr id="14" name="TextBox 13"/>
          <p:cNvSpPr txBox="1"/>
          <p:nvPr/>
        </p:nvSpPr>
        <p:spPr>
          <a:xfrm>
            <a:off x="6675120" y="2240280"/>
            <a:ext cx="5029200" cy="914400"/>
          </a:xfrm>
          <a:prstGeom prst="rect">
            <a:avLst/>
          </a:prstGeom>
          <a:noFill/>
        </p:spPr>
        <p:txBody>
          <a:bodyPr wrap="square">
            <a:spAutoFit/>
          </a:bodyPr>
          <a:lstStyle/>
          <a:p>
            <a:pPr algn="l"/>
            <a:r>
              <a:rPr sz="1600" b="0">
                <a:solidFill>
                  <a:srgbClr val="4A5B6B"/>
                </a:solidFill>
                <a:latin typeface="Calibri"/>
              </a:rPr>
              <a:t>Un cours a un formateur. Un formateur peut n’avoir aucun cours, ou plusieurs.</a:t>
            </a:r>
          </a:p>
        </p:txBody>
      </p:sp>
      <p:sp>
        <p:nvSpPr>
          <p:cNvPr id="15" name="Rounded Rectangle 14"/>
          <p:cNvSpPr/>
          <p:nvPr/>
        </p:nvSpPr>
        <p:spPr>
          <a:xfrm>
            <a:off x="457200" y="3703320"/>
            <a:ext cx="5577840" cy="201168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03320"/>
            <a:ext cx="109728" cy="2011680"/>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977640"/>
            <a:ext cx="5029200" cy="411480"/>
          </a:xfrm>
          <a:prstGeom prst="rect">
            <a:avLst/>
          </a:prstGeom>
          <a:noFill/>
        </p:spPr>
        <p:txBody>
          <a:bodyPr wrap="square">
            <a:spAutoFit/>
          </a:bodyPr>
          <a:lstStyle/>
          <a:p>
            <a:pPr algn="l"/>
            <a:r>
              <a:rPr sz="2000" b="1">
                <a:solidFill>
                  <a:srgbClr val="0B1F3A"/>
                </a:solidFill>
                <a:latin typeface="Calibri"/>
              </a:rPr>
              <a:t>Objectif</a:t>
            </a:r>
          </a:p>
        </p:txBody>
      </p:sp>
      <p:sp>
        <p:nvSpPr>
          <p:cNvPr id="18" name="TextBox 17"/>
          <p:cNvSpPr txBox="1"/>
          <p:nvPr/>
        </p:nvSpPr>
        <p:spPr>
          <a:xfrm>
            <a:off x="822960" y="4526280"/>
            <a:ext cx="5029200" cy="914400"/>
          </a:xfrm>
          <a:prstGeom prst="rect">
            <a:avLst/>
          </a:prstGeom>
          <a:noFill/>
        </p:spPr>
        <p:txBody>
          <a:bodyPr wrap="square">
            <a:spAutoFit/>
          </a:bodyPr>
          <a:lstStyle/>
          <a:p>
            <a:pPr algn="l"/>
            <a:r>
              <a:rPr sz="1600" b="0">
                <a:solidFill>
                  <a:srgbClr val="4A5B6B"/>
                </a:solidFill>
                <a:latin typeface="Calibri"/>
              </a:rPr>
              <a:t>Une application desktop claire pour le CRUD, le suivi et les contrôles.</a:t>
            </a:r>
          </a:p>
        </p:txBody>
      </p:sp>
      <p:sp>
        <p:nvSpPr>
          <p:cNvPr id="19" name="Rounded Rectangle 18"/>
          <p:cNvSpPr/>
          <p:nvPr/>
        </p:nvSpPr>
        <p:spPr>
          <a:xfrm>
            <a:off x="6309360" y="3703320"/>
            <a:ext cx="5577840" cy="201168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3703320"/>
            <a:ext cx="109728" cy="2011680"/>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3977640"/>
            <a:ext cx="5029200" cy="411480"/>
          </a:xfrm>
          <a:prstGeom prst="rect">
            <a:avLst/>
          </a:prstGeom>
          <a:noFill/>
        </p:spPr>
        <p:txBody>
          <a:bodyPr wrap="square">
            <a:spAutoFit/>
          </a:bodyPr>
          <a:lstStyle/>
          <a:p>
            <a:pPr algn="l"/>
            <a:r>
              <a:rPr sz="2000" b="1">
                <a:solidFill>
                  <a:srgbClr val="0B1F3A"/>
                </a:solidFill>
                <a:latin typeface="Calibri"/>
              </a:rPr>
              <a:t>Périmètre officiel</a:t>
            </a:r>
          </a:p>
        </p:txBody>
      </p:sp>
      <p:sp>
        <p:nvSpPr>
          <p:cNvPr id="22" name="TextBox 21"/>
          <p:cNvSpPr txBox="1"/>
          <p:nvPr/>
        </p:nvSpPr>
        <p:spPr>
          <a:xfrm>
            <a:off x="6675120" y="4526280"/>
            <a:ext cx="5029200" cy="914400"/>
          </a:xfrm>
          <a:prstGeom prst="rect">
            <a:avLst/>
          </a:prstGeom>
          <a:noFill/>
        </p:spPr>
        <p:txBody>
          <a:bodyPr wrap="square">
            <a:spAutoFit/>
          </a:bodyPr>
          <a:lstStyle/>
          <a:p>
            <a:pPr algn="l"/>
            <a:r>
              <a:rPr sz="1600" b="0">
                <a:solidFill>
                  <a:srgbClr val="4A5B6B"/>
                </a:solidFill>
                <a:latin typeface="Calibri"/>
              </a:rPr>
              <a:t>Sujet de repassage septembre 2026 — uniquement les exigences de l’énoncé.</a:t>
            </a:r>
          </a:p>
        </p:txBody>
      </p:sp>
      <p:sp>
        <p:nvSpPr>
          <p:cNvPr id="23" name="TextBox 22"/>
          <p:cNvSpPr txBox="1"/>
          <p:nvPr/>
        </p:nvSpPr>
        <p:spPr>
          <a:xfrm>
            <a:off x="457200" y="6565392"/>
            <a:ext cx="9144000" cy="256032"/>
          </a:xfrm>
          <a:prstGeom prst="rect">
            <a:avLst/>
          </a:prstGeom>
          <a:noFill/>
        </p:spPr>
        <p:txBody>
          <a:bodyPr wrap="square">
            <a:spAutoFit/>
          </a:bodyPr>
          <a:lstStyle/>
          <a:p>
            <a:pPr algn="l"/>
            <a:r>
              <a:rPr sz="1100" b="0">
                <a:solidFill>
                  <a:srgbClr val="4A5B6B"/>
                </a:solidFill>
                <a:latin typeface="Calibri"/>
              </a:rPr>
              <a:t>GCentreFormation  ·  FormaPlus  ·  Validation septembre 2026</a:t>
            </a:r>
          </a:p>
        </p:txBody>
      </p:sp>
      <p:sp>
        <p:nvSpPr>
          <p:cNvPr id="24" name="TextBox 23"/>
          <p:cNvSpPr txBox="1"/>
          <p:nvPr/>
        </p:nvSpPr>
        <p:spPr>
          <a:xfrm>
            <a:off x="10607040" y="6565392"/>
            <a:ext cx="1097280" cy="256032"/>
          </a:xfrm>
          <a:prstGeom prst="rect">
            <a:avLst/>
          </a:prstGeom>
          <a:noFill/>
        </p:spPr>
        <p:txBody>
          <a:bodyPr wrap="square">
            <a:spAutoFit/>
          </a:bodyPr>
          <a:lstStyle/>
          <a:p>
            <a:pPr algn="r"/>
            <a:r>
              <a:rPr sz="1100" b="0">
                <a:solidFill>
                  <a:srgbClr val="4A5B6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960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Modules choisis</a:t>
            </a:r>
          </a:p>
        </p:txBody>
      </p:sp>
      <p:sp>
        <p:nvSpPr>
          <p:cNvPr id="6" name="TextBox 5"/>
          <p:cNvSpPr txBox="1"/>
          <p:nvPr/>
        </p:nvSpPr>
        <p:spPr>
          <a:xfrm>
            <a:off x="457200" y="640080"/>
            <a:ext cx="10972800" cy="320040"/>
          </a:xfrm>
          <a:prstGeom prst="rect">
            <a:avLst/>
          </a:prstGeom>
          <a:noFill/>
        </p:spPr>
        <p:txBody>
          <a:bodyPr wrap="square">
            <a:spAutoFit/>
          </a:bodyPr>
          <a:lstStyle/>
          <a:p>
            <a:pPr algn="l"/>
            <a:r>
              <a:rPr sz="1300" b="0">
                <a:solidFill>
                  <a:srgbClr val="B8C9D6"/>
                </a:solidFill>
                <a:latin typeface="Calibri"/>
              </a:rPr>
              <a:t>Formateurs  +  Cours</a:t>
            </a:r>
          </a:p>
        </p:txBody>
      </p:sp>
      <p:sp>
        <p:nvSpPr>
          <p:cNvPr id="7" name="Rounded Rectangle 6"/>
          <p:cNvSpPr/>
          <p:nvPr/>
        </p:nvSpPr>
        <p:spPr>
          <a:xfrm>
            <a:off x="411480" y="1371600"/>
            <a:ext cx="5577840" cy="493776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71600"/>
            <a:ext cx="5577840" cy="6400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81328"/>
            <a:ext cx="5120640" cy="457200"/>
          </a:xfrm>
          <a:prstGeom prst="rect">
            <a:avLst/>
          </a:prstGeom>
          <a:noFill/>
        </p:spPr>
        <p:txBody>
          <a:bodyPr wrap="square">
            <a:spAutoFit/>
          </a:bodyPr>
          <a:lstStyle/>
          <a:p>
            <a:pPr algn="l"/>
            <a:r>
              <a:rPr sz="2200" b="1">
                <a:solidFill>
                  <a:srgbClr val="FFFFFF"/>
                </a:solidFill>
                <a:latin typeface="Calibri"/>
              </a:rPr>
              <a:t>FORMATEURS</a:t>
            </a:r>
          </a:p>
        </p:txBody>
      </p:sp>
      <p:sp>
        <p:nvSpPr>
          <p:cNvPr id="10" name="Rounded Rectangle 9"/>
          <p:cNvSpPr/>
          <p:nvPr/>
        </p:nvSpPr>
        <p:spPr>
          <a:xfrm>
            <a:off x="685800" y="2240280"/>
            <a:ext cx="5029200" cy="475488"/>
          </a:xfrm>
          <a:prstGeom prst="roundRect">
            <a:avLst/>
          </a:prstGeom>
          <a:solidFill>
            <a:srgbClr val="E8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313432"/>
            <a:ext cx="4663440" cy="347472"/>
          </a:xfrm>
          <a:prstGeom prst="rect">
            <a:avLst/>
          </a:prstGeom>
          <a:noFill/>
        </p:spPr>
        <p:txBody>
          <a:bodyPr wrap="square">
            <a:spAutoFit/>
          </a:bodyPr>
          <a:lstStyle/>
          <a:p>
            <a:pPr algn="l"/>
            <a:r>
              <a:rPr sz="1600" b="0">
                <a:solidFill>
                  <a:srgbClr val="0B1F3A"/>
                </a:solidFill>
                <a:latin typeface="Calibri"/>
              </a:rPr>
              <a:t>▸  CRUD complet</a:t>
            </a:r>
          </a:p>
        </p:txBody>
      </p:sp>
      <p:sp>
        <p:nvSpPr>
          <p:cNvPr id="12" name="Rounded Rectangle 11"/>
          <p:cNvSpPr/>
          <p:nvPr/>
        </p:nvSpPr>
        <p:spPr>
          <a:xfrm>
            <a:off x="685800" y="2834640"/>
            <a:ext cx="5029200" cy="475488"/>
          </a:xfrm>
          <a:prstGeom prst="roundRect">
            <a:avLst/>
          </a:prstGeom>
          <a:solidFill>
            <a:srgbClr val="E8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07792"/>
            <a:ext cx="4663440" cy="347472"/>
          </a:xfrm>
          <a:prstGeom prst="rect">
            <a:avLst/>
          </a:prstGeom>
          <a:noFill/>
        </p:spPr>
        <p:txBody>
          <a:bodyPr wrap="square">
            <a:spAutoFit/>
          </a:bodyPr>
          <a:lstStyle/>
          <a:p>
            <a:pPr algn="l"/>
            <a:r>
              <a:rPr sz="1600" b="0">
                <a:solidFill>
                  <a:srgbClr val="0B1F3A"/>
                </a:solidFill>
                <a:latin typeface="Calibri"/>
              </a:rPr>
              <a:t>▸  Recherche / tri  ≥ 3 critères</a:t>
            </a:r>
          </a:p>
        </p:txBody>
      </p:sp>
      <p:sp>
        <p:nvSpPr>
          <p:cNvPr id="14" name="Rounded Rectangle 13"/>
          <p:cNvSpPr/>
          <p:nvPr/>
        </p:nvSpPr>
        <p:spPr>
          <a:xfrm>
            <a:off x="685800" y="3429000"/>
            <a:ext cx="5029200" cy="475488"/>
          </a:xfrm>
          <a:prstGeom prst="roundRect">
            <a:avLst/>
          </a:prstGeom>
          <a:solidFill>
            <a:srgbClr val="E8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502152"/>
            <a:ext cx="4663440" cy="347472"/>
          </a:xfrm>
          <a:prstGeom prst="rect">
            <a:avLst/>
          </a:prstGeom>
          <a:noFill/>
        </p:spPr>
        <p:txBody>
          <a:bodyPr wrap="square">
            <a:spAutoFit/>
          </a:bodyPr>
          <a:lstStyle/>
          <a:p>
            <a:pPr algn="l"/>
            <a:r>
              <a:rPr sz="1600" b="0">
                <a:solidFill>
                  <a:srgbClr val="0B1F3A"/>
                </a:solidFill>
                <a:latin typeface="Calibri"/>
              </a:rPr>
              <a:t>▸  Statistiques + graphiques live</a:t>
            </a:r>
          </a:p>
        </p:txBody>
      </p:sp>
      <p:sp>
        <p:nvSpPr>
          <p:cNvPr id="16" name="Rounded Rectangle 15"/>
          <p:cNvSpPr/>
          <p:nvPr/>
        </p:nvSpPr>
        <p:spPr>
          <a:xfrm>
            <a:off x="685800" y="4023360"/>
            <a:ext cx="5029200" cy="475488"/>
          </a:xfrm>
          <a:prstGeom prst="roundRect">
            <a:avLst/>
          </a:prstGeom>
          <a:solidFill>
            <a:srgbClr val="E8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096512"/>
            <a:ext cx="4663440" cy="347472"/>
          </a:xfrm>
          <a:prstGeom prst="rect">
            <a:avLst/>
          </a:prstGeom>
          <a:noFill/>
        </p:spPr>
        <p:txBody>
          <a:bodyPr wrap="square">
            <a:spAutoFit/>
          </a:bodyPr>
          <a:lstStyle/>
          <a:p>
            <a:pPr algn="l"/>
            <a:r>
              <a:rPr sz="1600" b="0">
                <a:solidFill>
                  <a:srgbClr val="0B1F3A"/>
                </a:solidFill>
                <a:latin typeface="Calibri"/>
              </a:rPr>
              <a:t>▸  PDF fiche et liste</a:t>
            </a:r>
          </a:p>
        </p:txBody>
      </p:sp>
      <p:sp>
        <p:nvSpPr>
          <p:cNvPr id="18" name="Rounded Rectangle 17"/>
          <p:cNvSpPr/>
          <p:nvPr/>
        </p:nvSpPr>
        <p:spPr>
          <a:xfrm>
            <a:off x="685800" y="4617720"/>
            <a:ext cx="5029200" cy="475488"/>
          </a:xfrm>
          <a:prstGeom prst="roundRect">
            <a:avLst/>
          </a:prstGeom>
          <a:solidFill>
            <a:srgbClr val="E8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690872"/>
            <a:ext cx="4663440" cy="347472"/>
          </a:xfrm>
          <a:prstGeom prst="rect">
            <a:avLst/>
          </a:prstGeom>
          <a:noFill/>
        </p:spPr>
        <p:txBody>
          <a:bodyPr wrap="square">
            <a:spAutoFit/>
          </a:bodyPr>
          <a:lstStyle/>
          <a:p>
            <a:pPr algn="l"/>
            <a:r>
              <a:rPr sz="1600" b="0">
                <a:solidFill>
                  <a:srgbClr val="0B1F3A"/>
                </a:solidFill>
                <a:latin typeface="Calibri"/>
              </a:rPr>
              <a:t>▸  Charge pédagogique</a:t>
            </a:r>
          </a:p>
        </p:txBody>
      </p:sp>
      <p:sp>
        <p:nvSpPr>
          <p:cNvPr id="20" name="Rounded Rectangle 19"/>
          <p:cNvSpPr/>
          <p:nvPr/>
        </p:nvSpPr>
        <p:spPr>
          <a:xfrm>
            <a:off x="685800" y="5212080"/>
            <a:ext cx="5029200" cy="475488"/>
          </a:xfrm>
          <a:prstGeom prst="roundRect">
            <a:avLst/>
          </a:prstGeom>
          <a:solidFill>
            <a:srgbClr val="E8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285232"/>
            <a:ext cx="4663440" cy="347472"/>
          </a:xfrm>
          <a:prstGeom prst="rect">
            <a:avLst/>
          </a:prstGeom>
          <a:noFill/>
        </p:spPr>
        <p:txBody>
          <a:bodyPr wrap="square">
            <a:spAutoFit/>
          </a:bodyPr>
          <a:lstStyle/>
          <a:p>
            <a:pPr algn="l"/>
            <a:r>
              <a:rPr sz="1600" b="0">
                <a:solidFill>
                  <a:srgbClr val="0B1F3A"/>
                </a:solidFill>
                <a:latin typeface="Calibri"/>
              </a:rPr>
              <a:t>▸  Conflits de planning</a:t>
            </a:r>
          </a:p>
        </p:txBody>
      </p:sp>
      <p:sp>
        <p:nvSpPr>
          <p:cNvPr id="22" name="Rounded Rectangle 21"/>
          <p:cNvSpPr/>
          <p:nvPr/>
        </p:nvSpPr>
        <p:spPr>
          <a:xfrm>
            <a:off x="6217920" y="1371600"/>
            <a:ext cx="5577840" cy="493776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371600"/>
            <a:ext cx="5577840" cy="640080"/>
          </a:xfrm>
          <a:prstGeom prst="rect">
            <a:avLst/>
          </a:prstGeom>
          <a:solidFill>
            <a:srgbClr val="0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1481328"/>
            <a:ext cx="5120640" cy="457200"/>
          </a:xfrm>
          <a:prstGeom prst="rect">
            <a:avLst/>
          </a:prstGeom>
          <a:noFill/>
        </p:spPr>
        <p:txBody>
          <a:bodyPr wrap="square">
            <a:spAutoFit/>
          </a:bodyPr>
          <a:lstStyle/>
          <a:p>
            <a:pPr algn="l"/>
            <a:r>
              <a:rPr sz="2200" b="1">
                <a:solidFill>
                  <a:srgbClr val="FFFFFF"/>
                </a:solidFill>
                <a:latin typeface="Calibri"/>
              </a:rPr>
              <a:t>COURS</a:t>
            </a:r>
          </a:p>
        </p:txBody>
      </p:sp>
      <p:sp>
        <p:nvSpPr>
          <p:cNvPr id="25" name="Rounded Rectangle 24"/>
          <p:cNvSpPr/>
          <p:nvPr/>
        </p:nvSpPr>
        <p:spPr>
          <a:xfrm>
            <a:off x="6492240" y="2240280"/>
            <a:ext cx="5029200" cy="475488"/>
          </a:xfrm>
          <a:prstGeom prst="round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2313432"/>
            <a:ext cx="4663440" cy="347472"/>
          </a:xfrm>
          <a:prstGeom prst="rect">
            <a:avLst/>
          </a:prstGeom>
          <a:noFill/>
        </p:spPr>
        <p:txBody>
          <a:bodyPr wrap="square">
            <a:spAutoFit/>
          </a:bodyPr>
          <a:lstStyle/>
          <a:p>
            <a:pPr algn="l"/>
            <a:r>
              <a:rPr sz="1600" b="0">
                <a:solidFill>
                  <a:srgbClr val="0B1F3A"/>
                </a:solidFill>
                <a:latin typeface="Calibri"/>
              </a:rPr>
              <a:t>▸  CRUD complet</a:t>
            </a:r>
          </a:p>
        </p:txBody>
      </p:sp>
      <p:sp>
        <p:nvSpPr>
          <p:cNvPr id="27" name="Rounded Rectangle 26"/>
          <p:cNvSpPr/>
          <p:nvPr/>
        </p:nvSpPr>
        <p:spPr>
          <a:xfrm>
            <a:off x="6492240" y="2834640"/>
            <a:ext cx="5029200" cy="475488"/>
          </a:xfrm>
          <a:prstGeom prst="round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2907792"/>
            <a:ext cx="4663440" cy="347472"/>
          </a:xfrm>
          <a:prstGeom prst="rect">
            <a:avLst/>
          </a:prstGeom>
          <a:noFill/>
        </p:spPr>
        <p:txBody>
          <a:bodyPr wrap="square">
            <a:spAutoFit/>
          </a:bodyPr>
          <a:lstStyle/>
          <a:p>
            <a:pPr algn="l"/>
            <a:r>
              <a:rPr sz="1600" b="0">
                <a:solidFill>
                  <a:srgbClr val="0B1F3A"/>
                </a:solidFill>
                <a:latin typeface="Calibri"/>
              </a:rPr>
              <a:t>▸  Recherche / tri  ≥ 3 critères</a:t>
            </a:r>
          </a:p>
        </p:txBody>
      </p:sp>
      <p:sp>
        <p:nvSpPr>
          <p:cNvPr id="29" name="Rounded Rectangle 28"/>
          <p:cNvSpPr/>
          <p:nvPr/>
        </p:nvSpPr>
        <p:spPr>
          <a:xfrm>
            <a:off x="6492240" y="3429000"/>
            <a:ext cx="5029200" cy="475488"/>
          </a:xfrm>
          <a:prstGeom prst="round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3502152"/>
            <a:ext cx="4663440" cy="347472"/>
          </a:xfrm>
          <a:prstGeom prst="rect">
            <a:avLst/>
          </a:prstGeom>
          <a:noFill/>
        </p:spPr>
        <p:txBody>
          <a:bodyPr wrap="square">
            <a:spAutoFit/>
          </a:bodyPr>
          <a:lstStyle/>
          <a:p>
            <a:pPr algn="l"/>
            <a:r>
              <a:rPr sz="1600" b="0">
                <a:solidFill>
                  <a:srgbClr val="0B1F3A"/>
                </a:solidFill>
                <a:latin typeface="Calibri"/>
              </a:rPr>
              <a:t>▸  Statistiques + graphiques live</a:t>
            </a:r>
          </a:p>
        </p:txBody>
      </p:sp>
      <p:sp>
        <p:nvSpPr>
          <p:cNvPr id="31" name="Rounded Rectangle 30"/>
          <p:cNvSpPr/>
          <p:nvPr/>
        </p:nvSpPr>
        <p:spPr>
          <a:xfrm>
            <a:off x="6492240" y="4023360"/>
            <a:ext cx="5029200" cy="475488"/>
          </a:xfrm>
          <a:prstGeom prst="round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4096512"/>
            <a:ext cx="4663440" cy="347472"/>
          </a:xfrm>
          <a:prstGeom prst="rect">
            <a:avLst/>
          </a:prstGeom>
          <a:noFill/>
        </p:spPr>
        <p:txBody>
          <a:bodyPr wrap="square">
            <a:spAutoFit/>
          </a:bodyPr>
          <a:lstStyle/>
          <a:p>
            <a:pPr algn="l"/>
            <a:r>
              <a:rPr sz="1600" b="0">
                <a:solidFill>
                  <a:srgbClr val="0B1F3A"/>
                </a:solidFill>
                <a:latin typeface="Calibri"/>
              </a:rPr>
              <a:t>▸  PDF fiche et catalogue</a:t>
            </a:r>
          </a:p>
        </p:txBody>
      </p:sp>
      <p:sp>
        <p:nvSpPr>
          <p:cNvPr id="33" name="Rounded Rectangle 32"/>
          <p:cNvSpPr/>
          <p:nvPr/>
        </p:nvSpPr>
        <p:spPr>
          <a:xfrm>
            <a:off x="6492240" y="4617720"/>
            <a:ext cx="5029200" cy="475488"/>
          </a:xfrm>
          <a:prstGeom prst="round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0" y="4690872"/>
            <a:ext cx="4663440" cy="347472"/>
          </a:xfrm>
          <a:prstGeom prst="rect">
            <a:avLst/>
          </a:prstGeom>
          <a:noFill/>
        </p:spPr>
        <p:txBody>
          <a:bodyPr wrap="square">
            <a:spAutoFit/>
          </a:bodyPr>
          <a:lstStyle/>
          <a:p>
            <a:pPr algn="l"/>
            <a:r>
              <a:rPr sz="1600" b="0">
                <a:solidFill>
                  <a:srgbClr val="0B1F3A"/>
                </a:solidFill>
                <a:latin typeface="Calibri"/>
              </a:rPr>
              <a:t>▸  Affectation formateur</a:t>
            </a:r>
          </a:p>
        </p:txBody>
      </p:sp>
      <p:sp>
        <p:nvSpPr>
          <p:cNvPr id="35" name="Rounded Rectangle 34"/>
          <p:cNvSpPr/>
          <p:nvPr/>
        </p:nvSpPr>
        <p:spPr>
          <a:xfrm>
            <a:off x="6492240" y="5212080"/>
            <a:ext cx="5029200" cy="475488"/>
          </a:xfrm>
          <a:prstGeom prst="round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0" y="5285232"/>
            <a:ext cx="4663440" cy="347472"/>
          </a:xfrm>
          <a:prstGeom prst="rect">
            <a:avLst/>
          </a:prstGeom>
          <a:noFill/>
        </p:spPr>
        <p:txBody>
          <a:bodyPr wrap="square">
            <a:spAutoFit/>
          </a:bodyPr>
          <a:lstStyle/>
          <a:p>
            <a:pPr algn="l"/>
            <a:r>
              <a:rPr sz="1600" b="0">
                <a:solidFill>
                  <a:srgbClr val="0B1F3A"/>
                </a:solidFill>
                <a:latin typeface="Calibri"/>
              </a:rPr>
              <a:t>▸  Alertes métier</a:t>
            </a:r>
          </a:p>
        </p:txBody>
      </p:sp>
      <p:sp>
        <p:nvSpPr>
          <p:cNvPr id="37" name="TextBox 36"/>
          <p:cNvSpPr txBox="1"/>
          <p:nvPr/>
        </p:nvSpPr>
        <p:spPr>
          <a:xfrm>
            <a:off x="457200" y="6565392"/>
            <a:ext cx="9144000" cy="256032"/>
          </a:xfrm>
          <a:prstGeom prst="rect">
            <a:avLst/>
          </a:prstGeom>
          <a:noFill/>
        </p:spPr>
        <p:txBody>
          <a:bodyPr wrap="square">
            <a:spAutoFit/>
          </a:bodyPr>
          <a:lstStyle/>
          <a:p>
            <a:pPr algn="l"/>
            <a:r>
              <a:rPr sz="1100" b="0">
                <a:solidFill>
                  <a:srgbClr val="4A5B6B"/>
                </a:solidFill>
                <a:latin typeface="Calibri"/>
              </a:rPr>
              <a:t>GCentreFormation  ·  FormaPlus  ·  Validation septembre 2026</a:t>
            </a:r>
          </a:p>
        </p:txBody>
      </p:sp>
      <p:sp>
        <p:nvSpPr>
          <p:cNvPr id="38" name="TextBox 37"/>
          <p:cNvSpPr txBox="1"/>
          <p:nvPr/>
        </p:nvSpPr>
        <p:spPr>
          <a:xfrm>
            <a:off x="10607040" y="6565392"/>
            <a:ext cx="1097280" cy="256032"/>
          </a:xfrm>
          <a:prstGeom prst="rect">
            <a:avLst/>
          </a:prstGeom>
          <a:noFill/>
        </p:spPr>
        <p:txBody>
          <a:bodyPr wrap="square">
            <a:spAutoFit/>
          </a:bodyPr>
          <a:lstStyle/>
          <a:p>
            <a:pPr algn="r"/>
            <a:r>
              <a:rPr sz="1100" b="0">
                <a:solidFill>
                  <a:srgbClr val="4A5B6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960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Architecture</a:t>
            </a:r>
          </a:p>
        </p:txBody>
      </p:sp>
      <p:sp>
        <p:nvSpPr>
          <p:cNvPr id="6" name="TextBox 5"/>
          <p:cNvSpPr txBox="1"/>
          <p:nvPr/>
        </p:nvSpPr>
        <p:spPr>
          <a:xfrm>
            <a:off x="457200" y="640080"/>
            <a:ext cx="10972800" cy="320040"/>
          </a:xfrm>
          <a:prstGeom prst="rect">
            <a:avLst/>
          </a:prstGeom>
          <a:noFill/>
        </p:spPr>
        <p:txBody>
          <a:bodyPr wrap="square">
            <a:spAutoFit/>
          </a:bodyPr>
          <a:lstStyle/>
          <a:p>
            <a:pPr algn="l"/>
            <a:r>
              <a:rPr sz="1300" b="0">
                <a:solidFill>
                  <a:srgbClr val="B8C9D6"/>
                </a:solidFill>
                <a:latin typeface="Calibri"/>
              </a:rPr>
              <a:t>Séparation GUI / accès données — pas de SQL derrière un bouton</a:t>
            </a:r>
          </a:p>
        </p:txBody>
      </p:sp>
      <p:sp>
        <p:nvSpPr>
          <p:cNvPr id="7" name="Rounded Rectangle 6"/>
          <p:cNvSpPr/>
          <p:nvPr/>
        </p:nvSpPr>
        <p:spPr>
          <a:xfrm>
            <a:off x="2194560" y="1325880"/>
            <a:ext cx="7772400" cy="566928"/>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94560" y="1435608"/>
            <a:ext cx="7772400" cy="384048"/>
          </a:xfrm>
          <a:prstGeom prst="rect">
            <a:avLst/>
          </a:prstGeom>
          <a:noFill/>
        </p:spPr>
        <p:txBody>
          <a:bodyPr wrap="square">
            <a:spAutoFit/>
          </a:bodyPr>
          <a:lstStyle/>
          <a:p>
            <a:pPr algn="ctr"/>
            <a:r>
              <a:rPr sz="1600" b="1">
                <a:solidFill>
                  <a:srgbClr val="FFFFFF"/>
                </a:solidFill>
                <a:latin typeface="Calibri"/>
              </a:rPr>
              <a:t>UTILISATEUR</a:t>
            </a:r>
          </a:p>
        </p:txBody>
      </p:sp>
      <p:sp>
        <p:nvSpPr>
          <p:cNvPr id="9" name="TextBox 8"/>
          <p:cNvSpPr txBox="1"/>
          <p:nvPr/>
        </p:nvSpPr>
        <p:spPr>
          <a:xfrm>
            <a:off x="5760720" y="1837944"/>
            <a:ext cx="731520" cy="182880"/>
          </a:xfrm>
          <a:prstGeom prst="rect">
            <a:avLst/>
          </a:prstGeom>
          <a:noFill/>
        </p:spPr>
        <p:txBody>
          <a:bodyPr wrap="square">
            <a:spAutoFit/>
          </a:bodyPr>
          <a:lstStyle/>
          <a:p>
            <a:pPr algn="ctr"/>
            <a:r>
              <a:rPr sz="1400" b="1">
                <a:solidFill>
                  <a:srgbClr val="1AA396"/>
                </a:solidFill>
                <a:latin typeface="Calibri"/>
              </a:rPr>
              <a:t>↓</a:t>
            </a:r>
          </a:p>
        </p:txBody>
      </p:sp>
      <p:sp>
        <p:nvSpPr>
          <p:cNvPr id="10" name="Rounded Rectangle 9"/>
          <p:cNvSpPr/>
          <p:nvPr/>
        </p:nvSpPr>
        <p:spPr>
          <a:xfrm>
            <a:off x="2194560" y="1984248"/>
            <a:ext cx="7772400" cy="566928"/>
          </a:xfrm>
          <a:prstGeom prst="roundRect">
            <a:avLst/>
          </a:prstGeom>
          <a:solidFill>
            <a:srgbClr val="1233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94560" y="2093976"/>
            <a:ext cx="7772400" cy="384048"/>
          </a:xfrm>
          <a:prstGeom prst="rect">
            <a:avLst/>
          </a:prstGeom>
          <a:noFill/>
        </p:spPr>
        <p:txBody>
          <a:bodyPr wrap="square">
            <a:spAutoFit/>
          </a:bodyPr>
          <a:lstStyle/>
          <a:p>
            <a:pPr algn="ctr"/>
            <a:r>
              <a:rPr sz="1600" b="1">
                <a:solidFill>
                  <a:srgbClr val="FFFFFF"/>
                </a:solidFill>
                <a:latin typeface="Calibri"/>
              </a:rPr>
              <a:t>QT GUI   ·   Sidebar + StackedWidget + Tabs</a:t>
            </a:r>
          </a:p>
        </p:txBody>
      </p:sp>
      <p:sp>
        <p:nvSpPr>
          <p:cNvPr id="12" name="TextBox 11"/>
          <p:cNvSpPr txBox="1"/>
          <p:nvPr/>
        </p:nvSpPr>
        <p:spPr>
          <a:xfrm>
            <a:off x="5760720" y="2496312"/>
            <a:ext cx="731520" cy="182880"/>
          </a:xfrm>
          <a:prstGeom prst="rect">
            <a:avLst/>
          </a:prstGeom>
          <a:noFill/>
        </p:spPr>
        <p:txBody>
          <a:bodyPr wrap="square">
            <a:spAutoFit/>
          </a:bodyPr>
          <a:lstStyle/>
          <a:p>
            <a:pPr algn="ctr"/>
            <a:r>
              <a:rPr sz="1400" b="1">
                <a:solidFill>
                  <a:srgbClr val="1AA396"/>
                </a:solidFill>
                <a:latin typeface="Calibri"/>
              </a:rPr>
              <a:t>↓</a:t>
            </a:r>
          </a:p>
        </p:txBody>
      </p:sp>
      <p:sp>
        <p:nvSpPr>
          <p:cNvPr id="13" name="Rounded Rectangle 12"/>
          <p:cNvSpPr/>
          <p:nvPr/>
        </p:nvSpPr>
        <p:spPr>
          <a:xfrm>
            <a:off x="2194560" y="2642616"/>
            <a:ext cx="7772400" cy="566928"/>
          </a:xfrm>
          <a:prstGeom prst="roundRect">
            <a:avLst/>
          </a:prstGeom>
          <a:solidFill>
            <a:srgbClr val="0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94560" y="2752344"/>
            <a:ext cx="7772400" cy="384048"/>
          </a:xfrm>
          <a:prstGeom prst="rect">
            <a:avLst/>
          </a:prstGeom>
          <a:noFill/>
        </p:spPr>
        <p:txBody>
          <a:bodyPr wrap="square">
            <a:spAutoFit/>
          </a:bodyPr>
          <a:lstStyle/>
          <a:p>
            <a:pPr algn="ctr"/>
            <a:r>
              <a:rPr sz="1600" b="1">
                <a:solidFill>
                  <a:srgbClr val="FFFFFF"/>
                </a:solidFill>
                <a:latin typeface="Calibri"/>
              </a:rPr>
              <a:t>Formateur   /   Cours    (classes C++ pures)</a:t>
            </a:r>
          </a:p>
        </p:txBody>
      </p:sp>
      <p:sp>
        <p:nvSpPr>
          <p:cNvPr id="15" name="TextBox 14"/>
          <p:cNvSpPr txBox="1"/>
          <p:nvPr/>
        </p:nvSpPr>
        <p:spPr>
          <a:xfrm>
            <a:off x="5760720" y="3154680"/>
            <a:ext cx="731520" cy="182880"/>
          </a:xfrm>
          <a:prstGeom prst="rect">
            <a:avLst/>
          </a:prstGeom>
          <a:noFill/>
        </p:spPr>
        <p:txBody>
          <a:bodyPr wrap="square">
            <a:spAutoFit/>
          </a:bodyPr>
          <a:lstStyle/>
          <a:p>
            <a:pPr algn="ctr"/>
            <a:r>
              <a:rPr sz="1400" b="1">
                <a:solidFill>
                  <a:srgbClr val="1AA396"/>
                </a:solidFill>
                <a:latin typeface="Calibri"/>
              </a:rPr>
              <a:t>↓</a:t>
            </a:r>
          </a:p>
        </p:txBody>
      </p:sp>
      <p:sp>
        <p:nvSpPr>
          <p:cNvPr id="16" name="Rounded Rectangle 15"/>
          <p:cNvSpPr/>
          <p:nvPr/>
        </p:nvSpPr>
        <p:spPr>
          <a:xfrm>
            <a:off x="2194560" y="3300984"/>
            <a:ext cx="7772400" cy="566928"/>
          </a:xfrm>
          <a:prstGeom prst="round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3410712"/>
            <a:ext cx="7772400" cy="384048"/>
          </a:xfrm>
          <a:prstGeom prst="rect">
            <a:avLst/>
          </a:prstGeom>
          <a:noFill/>
        </p:spPr>
        <p:txBody>
          <a:bodyPr wrap="square">
            <a:spAutoFit/>
          </a:bodyPr>
          <a:lstStyle/>
          <a:p>
            <a:pPr algn="ctr"/>
            <a:r>
              <a:rPr sz="1600" b="1">
                <a:solidFill>
                  <a:srgbClr val="FFFFFF"/>
                </a:solidFill>
                <a:latin typeface="Calibri"/>
              </a:rPr>
              <a:t>Connection::instance()    Singleton</a:t>
            </a:r>
          </a:p>
        </p:txBody>
      </p:sp>
      <p:sp>
        <p:nvSpPr>
          <p:cNvPr id="18" name="TextBox 17"/>
          <p:cNvSpPr txBox="1"/>
          <p:nvPr/>
        </p:nvSpPr>
        <p:spPr>
          <a:xfrm>
            <a:off x="5760720" y="3813048"/>
            <a:ext cx="731520" cy="182880"/>
          </a:xfrm>
          <a:prstGeom prst="rect">
            <a:avLst/>
          </a:prstGeom>
          <a:noFill/>
        </p:spPr>
        <p:txBody>
          <a:bodyPr wrap="square">
            <a:spAutoFit/>
          </a:bodyPr>
          <a:lstStyle/>
          <a:p>
            <a:pPr algn="ctr"/>
            <a:r>
              <a:rPr sz="1400" b="1">
                <a:solidFill>
                  <a:srgbClr val="1AA396"/>
                </a:solidFill>
                <a:latin typeface="Calibri"/>
              </a:rPr>
              <a:t>↓</a:t>
            </a:r>
          </a:p>
        </p:txBody>
      </p:sp>
      <p:sp>
        <p:nvSpPr>
          <p:cNvPr id="19" name="Rounded Rectangle 18"/>
          <p:cNvSpPr/>
          <p:nvPr/>
        </p:nvSpPr>
        <p:spPr>
          <a:xfrm>
            <a:off x="2194560" y="3959352"/>
            <a:ext cx="7772400" cy="566928"/>
          </a:xfrm>
          <a:prstGeom prst="roundRect">
            <a:avLst/>
          </a:prstGeom>
          <a:solidFill>
            <a:srgbClr val="1233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94560" y="4069080"/>
            <a:ext cx="7772400" cy="384048"/>
          </a:xfrm>
          <a:prstGeom prst="rect">
            <a:avLst/>
          </a:prstGeom>
          <a:noFill/>
        </p:spPr>
        <p:txBody>
          <a:bodyPr wrap="square">
            <a:spAutoFit/>
          </a:bodyPr>
          <a:lstStyle/>
          <a:p>
            <a:pPr algn="ctr"/>
            <a:r>
              <a:rPr sz="1600" b="1">
                <a:solidFill>
                  <a:srgbClr val="FFFFFF"/>
                </a:solidFill>
                <a:latin typeface="Calibri"/>
              </a:rPr>
              <a:t>QODBC</a:t>
            </a:r>
          </a:p>
        </p:txBody>
      </p:sp>
      <p:sp>
        <p:nvSpPr>
          <p:cNvPr id="21" name="TextBox 20"/>
          <p:cNvSpPr txBox="1"/>
          <p:nvPr/>
        </p:nvSpPr>
        <p:spPr>
          <a:xfrm>
            <a:off x="5760720" y="4471416"/>
            <a:ext cx="731520" cy="182880"/>
          </a:xfrm>
          <a:prstGeom prst="rect">
            <a:avLst/>
          </a:prstGeom>
          <a:noFill/>
        </p:spPr>
        <p:txBody>
          <a:bodyPr wrap="square">
            <a:spAutoFit/>
          </a:bodyPr>
          <a:lstStyle/>
          <a:p>
            <a:pPr algn="ctr"/>
            <a:r>
              <a:rPr sz="1400" b="1">
                <a:solidFill>
                  <a:srgbClr val="1AA396"/>
                </a:solidFill>
                <a:latin typeface="Calibri"/>
              </a:rPr>
              <a:t>↓</a:t>
            </a:r>
          </a:p>
        </p:txBody>
      </p:sp>
      <p:sp>
        <p:nvSpPr>
          <p:cNvPr id="22" name="Rounded Rectangle 21"/>
          <p:cNvSpPr/>
          <p:nvPr/>
        </p:nvSpPr>
        <p:spPr>
          <a:xfrm>
            <a:off x="2194560" y="4617720"/>
            <a:ext cx="7772400" cy="566928"/>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94560" y="4727448"/>
            <a:ext cx="7772400" cy="384048"/>
          </a:xfrm>
          <a:prstGeom prst="rect">
            <a:avLst/>
          </a:prstGeom>
          <a:noFill/>
        </p:spPr>
        <p:txBody>
          <a:bodyPr wrap="square">
            <a:spAutoFit/>
          </a:bodyPr>
          <a:lstStyle/>
          <a:p>
            <a:pPr algn="ctr"/>
            <a:r>
              <a:rPr sz="1600" b="1">
                <a:solidFill>
                  <a:srgbClr val="FFFFFF"/>
                </a:solidFill>
                <a:latin typeface="Calibri"/>
              </a:rPr>
              <a:t>ORACLE XE    DSN Source_Projet2A</a:t>
            </a:r>
          </a:p>
        </p:txBody>
      </p:sp>
      <p:sp>
        <p:nvSpPr>
          <p:cNvPr id="24" name="TextBox 23"/>
          <p:cNvSpPr txBox="1"/>
          <p:nvPr/>
        </p:nvSpPr>
        <p:spPr>
          <a:xfrm>
            <a:off x="365760" y="1417320"/>
            <a:ext cx="1737360" cy="914400"/>
          </a:xfrm>
          <a:prstGeom prst="rect">
            <a:avLst/>
          </a:prstGeom>
          <a:noFill/>
        </p:spPr>
        <p:txBody>
          <a:bodyPr wrap="square">
            <a:spAutoFit/>
          </a:bodyPr>
          <a:lstStyle/>
          <a:p>
            <a:pPr algn="ctr"/>
            <a:r>
              <a:rPr sz="1300" b="0">
                <a:solidFill>
                  <a:srgbClr val="4A5B6B"/>
                </a:solidFill>
                <a:latin typeface="Calibri"/>
              </a:rPr>
              <a:t>GUI séparée des requêtes</a:t>
            </a:r>
          </a:p>
        </p:txBody>
      </p:sp>
      <p:sp>
        <p:nvSpPr>
          <p:cNvPr id="25" name="TextBox 24"/>
          <p:cNvSpPr txBox="1"/>
          <p:nvPr/>
        </p:nvSpPr>
        <p:spPr>
          <a:xfrm>
            <a:off x="365760" y="2514600"/>
            <a:ext cx="1737360" cy="914400"/>
          </a:xfrm>
          <a:prstGeom prst="rect">
            <a:avLst/>
          </a:prstGeom>
          <a:noFill/>
        </p:spPr>
        <p:txBody>
          <a:bodyPr wrap="square">
            <a:spAutoFit/>
          </a:bodyPr>
          <a:lstStyle/>
          <a:p>
            <a:pPr algn="ctr"/>
            <a:r>
              <a:rPr sz="1300" b="0">
                <a:solidFill>
                  <a:srgbClr val="4A5B6B"/>
                </a:solidFill>
                <a:latin typeface="Calibri"/>
              </a:rPr>
              <a:t>SQL dans Formateur et Cours</a:t>
            </a:r>
          </a:p>
        </p:txBody>
      </p:sp>
      <p:sp>
        <p:nvSpPr>
          <p:cNvPr id="26" name="TextBox 25"/>
          <p:cNvSpPr txBox="1"/>
          <p:nvPr/>
        </p:nvSpPr>
        <p:spPr>
          <a:xfrm>
            <a:off x="365760" y="3611880"/>
            <a:ext cx="1737360" cy="914400"/>
          </a:xfrm>
          <a:prstGeom prst="rect">
            <a:avLst/>
          </a:prstGeom>
          <a:noFill/>
        </p:spPr>
        <p:txBody>
          <a:bodyPr wrap="square">
            <a:spAutoFit/>
          </a:bodyPr>
          <a:lstStyle/>
          <a:p>
            <a:pPr algn="ctr"/>
            <a:r>
              <a:rPr sz="1300" b="0">
                <a:solidFill>
                  <a:srgbClr val="4A5B6B"/>
                </a:solidFill>
                <a:latin typeface="Calibri"/>
              </a:rPr>
              <a:t>Une seule connexion Oracle</a:t>
            </a:r>
          </a:p>
        </p:txBody>
      </p:sp>
      <p:sp>
        <p:nvSpPr>
          <p:cNvPr id="27" name="TextBox 26"/>
          <p:cNvSpPr txBox="1"/>
          <p:nvPr/>
        </p:nvSpPr>
        <p:spPr>
          <a:xfrm>
            <a:off x="365760" y="4709159"/>
            <a:ext cx="1737360" cy="914400"/>
          </a:xfrm>
          <a:prstGeom prst="rect">
            <a:avLst/>
          </a:prstGeom>
          <a:noFill/>
        </p:spPr>
        <p:txBody>
          <a:bodyPr wrap="square">
            <a:spAutoFit/>
          </a:bodyPr>
          <a:lstStyle/>
          <a:p>
            <a:pPr algn="ctr"/>
            <a:r>
              <a:rPr sz="1300" b="0">
                <a:solidFill>
                  <a:srgbClr val="4A5B6B"/>
                </a:solidFill>
                <a:latin typeface="Calibri"/>
              </a:rPr>
              <a:t>qmake  ·  Qt 6.8.3  ·  C++17</a:t>
            </a:r>
          </a:p>
        </p:txBody>
      </p:sp>
      <p:sp>
        <p:nvSpPr>
          <p:cNvPr id="28" name="TextBox 27"/>
          <p:cNvSpPr txBox="1"/>
          <p:nvPr/>
        </p:nvSpPr>
        <p:spPr>
          <a:xfrm>
            <a:off x="457200" y="6565392"/>
            <a:ext cx="9144000" cy="256032"/>
          </a:xfrm>
          <a:prstGeom prst="rect">
            <a:avLst/>
          </a:prstGeom>
          <a:noFill/>
        </p:spPr>
        <p:txBody>
          <a:bodyPr wrap="square">
            <a:spAutoFit/>
          </a:bodyPr>
          <a:lstStyle/>
          <a:p>
            <a:pPr algn="l"/>
            <a:r>
              <a:rPr sz="1100" b="0">
                <a:solidFill>
                  <a:srgbClr val="4A5B6B"/>
                </a:solidFill>
                <a:latin typeface="Calibri"/>
              </a:rPr>
              <a:t>GCentreFormation  ·  FormaPlus  ·  Validation septembre 2026</a:t>
            </a:r>
          </a:p>
        </p:txBody>
      </p:sp>
      <p:sp>
        <p:nvSpPr>
          <p:cNvPr id="29" name="TextBox 28"/>
          <p:cNvSpPr txBox="1"/>
          <p:nvPr/>
        </p:nvSpPr>
        <p:spPr>
          <a:xfrm>
            <a:off x="10607040" y="6565392"/>
            <a:ext cx="1097280" cy="256032"/>
          </a:xfrm>
          <a:prstGeom prst="rect">
            <a:avLst/>
          </a:prstGeom>
          <a:noFill/>
        </p:spPr>
        <p:txBody>
          <a:bodyPr wrap="square">
            <a:spAutoFit/>
          </a:bodyPr>
          <a:lstStyle/>
          <a:p>
            <a:pPr algn="r"/>
            <a:r>
              <a:rPr sz="1100" b="0">
                <a:solidFill>
                  <a:srgbClr val="4A5B6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960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Base de données</a:t>
            </a:r>
          </a:p>
        </p:txBody>
      </p:sp>
      <p:sp>
        <p:nvSpPr>
          <p:cNvPr id="6" name="TextBox 5"/>
          <p:cNvSpPr txBox="1"/>
          <p:nvPr/>
        </p:nvSpPr>
        <p:spPr>
          <a:xfrm>
            <a:off x="457200" y="640080"/>
            <a:ext cx="10972800" cy="320040"/>
          </a:xfrm>
          <a:prstGeom prst="rect">
            <a:avLst/>
          </a:prstGeom>
          <a:noFill/>
        </p:spPr>
        <p:txBody>
          <a:bodyPr wrap="square">
            <a:spAutoFit/>
          </a:bodyPr>
          <a:lstStyle/>
          <a:p>
            <a:pPr algn="l"/>
            <a:r>
              <a:rPr sz="1300" b="0">
                <a:solidFill>
                  <a:srgbClr val="B8C9D6"/>
                </a:solidFill>
                <a:latin typeface="Calibri"/>
              </a:rPr>
              <a:t>MCD → MLD → MPD → Oracle</a:t>
            </a:r>
          </a:p>
        </p:txBody>
      </p:sp>
      <p:sp>
        <p:nvSpPr>
          <p:cNvPr id="7" name="Rounded Rectangle 6"/>
          <p:cNvSpPr/>
          <p:nvPr/>
        </p:nvSpPr>
        <p:spPr>
          <a:xfrm>
            <a:off x="457200" y="1371600"/>
            <a:ext cx="2468880" cy="6400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2468880" cy="457200"/>
          </a:xfrm>
          <a:prstGeom prst="rect">
            <a:avLst/>
          </a:prstGeom>
          <a:noFill/>
        </p:spPr>
        <p:txBody>
          <a:bodyPr wrap="square">
            <a:spAutoFit/>
          </a:bodyPr>
          <a:lstStyle/>
          <a:p>
            <a:pPr algn="ctr"/>
            <a:r>
              <a:rPr sz="2000" b="1">
                <a:solidFill>
                  <a:srgbClr val="FFFFFF"/>
                </a:solidFill>
                <a:latin typeface="Calibri"/>
              </a:rPr>
              <a:t>MCD</a:t>
            </a:r>
          </a:p>
        </p:txBody>
      </p:sp>
      <p:sp>
        <p:nvSpPr>
          <p:cNvPr id="9" name="TextBox 8"/>
          <p:cNvSpPr txBox="1"/>
          <p:nvPr/>
        </p:nvSpPr>
        <p:spPr>
          <a:xfrm>
            <a:off x="2788920" y="1444752"/>
            <a:ext cx="640080" cy="457200"/>
          </a:xfrm>
          <a:prstGeom prst="rect">
            <a:avLst/>
          </a:prstGeom>
          <a:noFill/>
        </p:spPr>
        <p:txBody>
          <a:bodyPr wrap="square">
            <a:spAutoFit/>
          </a:bodyPr>
          <a:lstStyle/>
          <a:p>
            <a:pPr algn="ctr"/>
            <a:r>
              <a:rPr sz="2000" b="1">
                <a:solidFill>
                  <a:srgbClr val="1AA396"/>
                </a:solidFill>
                <a:latin typeface="Calibri"/>
              </a:rPr>
              <a:t>→</a:t>
            </a:r>
          </a:p>
        </p:txBody>
      </p:sp>
      <p:sp>
        <p:nvSpPr>
          <p:cNvPr id="10" name="Rounded Rectangle 9"/>
          <p:cNvSpPr/>
          <p:nvPr/>
        </p:nvSpPr>
        <p:spPr>
          <a:xfrm>
            <a:off x="3383280" y="1371600"/>
            <a:ext cx="2468880" cy="6400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463040"/>
            <a:ext cx="2468880" cy="457200"/>
          </a:xfrm>
          <a:prstGeom prst="rect">
            <a:avLst/>
          </a:prstGeom>
          <a:noFill/>
        </p:spPr>
        <p:txBody>
          <a:bodyPr wrap="square">
            <a:spAutoFit/>
          </a:bodyPr>
          <a:lstStyle/>
          <a:p>
            <a:pPr algn="ctr"/>
            <a:r>
              <a:rPr sz="2000" b="1">
                <a:solidFill>
                  <a:srgbClr val="FFFFFF"/>
                </a:solidFill>
                <a:latin typeface="Calibri"/>
              </a:rPr>
              <a:t>MLD</a:t>
            </a:r>
          </a:p>
        </p:txBody>
      </p:sp>
      <p:sp>
        <p:nvSpPr>
          <p:cNvPr id="12" name="TextBox 11"/>
          <p:cNvSpPr txBox="1"/>
          <p:nvPr/>
        </p:nvSpPr>
        <p:spPr>
          <a:xfrm>
            <a:off x="5715000" y="1444752"/>
            <a:ext cx="640080" cy="457200"/>
          </a:xfrm>
          <a:prstGeom prst="rect">
            <a:avLst/>
          </a:prstGeom>
          <a:noFill/>
        </p:spPr>
        <p:txBody>
          <a:bodyPr wrap="square">
            <a:spAutoFit/>
          </a:bodyPr>
          <a:lstStyle/>
          <a:p>
            <a:pPr algn="ctr"/>
            <a:r>
              <a:rPr sz="2000" b="1">
                <a:solidFill>
                  <a:srgbClr val="1AA396"/>
                </a:solidFill>
                <a:latin typeface="Calibri"/>
              </a:rPr>
              <a:t>→</a:t>
            </a:r>
          </a:p>
        </p:txBody>
      </p:sp>
      <p:sp>
        <p:nvSpPr>
          <p:cNvPr id="13" name="Rounded Rectangle 12"/>
          <p:cNvSpPr/>
          <p:nvPr/>
        </p:nvSpPr>
        <p:spPr>
          <a:xfrm>
            <a:off x="6309360" y="1371600"/>
            <a:ext cx="2468880" cy="6400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463040"/>
            <a:ext cx="2468880" cy="457200"/>
          </a:xfrm>
          <a:prstGeom prst="rect">
            <a:avLst/>
          </a:prstGeom>
          <a:noFill/>
        </p:spPr>
        <p:txBody>
          <a:bodyPr wrap="square">
            <a:spAutoFit/>
          </a:bodyPr>
          <a:lstStyle/>
          <a:p>
            <a:pPr algn="ctr"/>
            <a:r>
              <a:rPr sz="2000" b="1">
                <a:solidFill>
                  <a:srgbClr val="FFFFFF"/>
                </a:solidFill>
                <a:latin typeface="Calibri"/>
              </a:rPr>
              <a:t>MPD</a:t>
            </a:r>
          </a:p>
        </p:txBody>
      </p:sp>
      <p:sp>
        <p:nvSpPr>
          <p:cNvPr id="15" name="TextBox 14"/>
          <p:cNvSpPr txBox="1"/>
          <p:nvPr/>
        </p:nvSpPr>
        <p:spPr>
          <a:xfrm>
            <a:off x="8641080" y="1444752"/>
            <a:ext cx="640080" cy="457200"/>
          </a:xfrm>
          <a:prstGeom prst="rect">
            <a:avLst/>
          </a:prstGeom>
          <a:noFill/>
        </p:spPr>
        <p:txBody>
          <a:bodyPr wrap="square">
            <a:spAutoFit/>
          </a:bodyPr>
          <a:lstStyle/>
          <a:p>
            <a:pPr algn="ctr"/>
            <a:r>
              <a:rPr sz="2000" b="1">
                <a:solidFill>
                  <a:srgbClr val="1AA396"/>
                </a:solidFill>
                <a:latin typeface="Calibri"/>
              </a:rPr>
              <a:t>→</a:t>
            </a:r>
          </a:p>
        </p:txBody>
      </p:sp>
      <p:sp>
        <p:nvSpPr>
          <p:cNvPr id="16" name="Rounded Rectangle 15"/>
          <p:cNvSpPr/>
          <p:nvPr/>
        </p:nvSpPr>
        <p:spPr>
          <a:xfrm>
            <a:off x="9235440" y="1371600"/>
            <a:ext cx="2468880" cy="640080"/>
          </a:xfrm>
          <a:prstGeom prst="round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463040"/>
            <a:ext cx="2468880" cy="457200"/>
          </a:xfrm>
          <a:prstGeom prst="rect">
            <a:avLst/>
          </a:prstGeom>
          <a:noFill/>
        </p:spPr>
        <p:txBody>
          <a:bodyPr wrap="square">
            <a:spAutoFit/>
          </a:bodyPr>
          <a:lstStyle/>
          <a:p>
            <a:pPr algn="ctr"/>
            <a:r>
              <a:rPr sz="2000" b="1">
                <a:solidFill>
                  <a:srgbClr val="FFFFFF"/>
                </a:solidFill>
                <a:latin typeface="Calibri"/>
              </a:rPr>
              <a:t>Oracle</a:t>
            </a:r>
          </a:p>
        </p:txBody>
      </p:sp>
      <p:sp>
        <p:nvSpPr>
          <p:cNvPr id="18" name="Rounded Rectangle 17"/>
          <p:cNvSpPr/>
          <p:nvPr/>
        </p:nvSpPr>
        <p:spPr>
          <a:xfrm>
            <a:off x="457200" y="2286000"/>
            <a:ext cx="5760720" cy="393192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423160"/>
            <a:ext cx="5303520" cy="365760"/>
          </a:xfrm>
          <a:prstGeom prst="rect">
            <a:avLst/>
          </a:prstGeom>
          <a:noFill/>
        </p:spPr>
        <p:txBody>
          <a:bodyPr wrap="square">
            <a:spAutoFit/>
          </a:bodyPr>
          <a:lstStyle/>
          <a:p>
            <a:pPr algn="l"/>
            <a:r>
              <a:rPr sz="1600" b="1">
                <a:solidFill>
                  <a:srgbClr val="0B1F3A"/>
                </a:solidFill>
                <a:latin typeface="Calibri"/>
              </a:rPr>
              <a:t>Association  enseigne</a:t>
            </a:r>
          </a:p>
        </p:txBody>
      </p:sp>
      <p:sp>
        <p:nvSpPr>
          <p:cNvPr id="20" name="Rounded Rectangle 19"/>
          <p:cNvSpPr/>
          <p:nvPr/>
        </p:nvSpPr>
        <p:spPr>
          <a:xfrm>
            <a:off x="914400" y="3017520"/>
            <a:ext cx="2194560" cy="237744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383280"/>
            <a:ext cx="2194560" cy="457200"/>
          </a:xfrm>
          <a:prstGeom prst="rect">
            <a:avLst/>
          </a:prstGeom>
          <a:noFill/>
        </p:spPr>
        <p:txBody>
          <a:bodyPr wrap="square">
            <a:spAutoFit/>
          </a:bodyPr>
          <a:lstStyle/>
          <a:p>
            <a:pPr algn="ctr"/>
            <a:r>
              <a:rPr sz="1600" b="1">
                <a:solidFill>
                  <a:srgbClr val="FFFFFF"/>
                </a:solidFill>
                <a:latin typeface="Calibri"/>
              </a:rPr>
              <a:t>FORMATEUR</a:t>
            </a:r>
          </a:p>
        </p:txBody>
      </p:sp>
      <p:sp>
        <p:nvSpPr>
          <p:cNvPr id="22" name="TextBox 21"/>
          <p:cNvSpPr txBox="1"/>
          <p:nvPr/>
        </p:nvSpPr>
        <p:spPr>
          <a:xfrm>
            <a:off x="914400" y="3931920"/>
            <a:ext cx="2194560" cy="731520"/>
          </a:xfrm>
          <a:prstGeom prst="rect">
            <a:avLst/>
          </a:prstGeom>
          <a:noFill/>
        </p:spPr>
        <p:txBody>
          <a:bodyPr wrap="square">
            <a:spAutoFit/>
          </a:bodyPr>
          <a:lstStyle/>
          <a:p>
            <a:pPr algn="ctr"/>
            <a:r>
              <a:rPr sz="1400" b="0">
                <a:solidFill>
                  <a:srgbClr val="C8DCE8"/>
                </a:solidFill>
                <a:latin typeface="Calibri"/>
              </a:rPr>
              <a:t>PK  id_formateur
(0,N)</a:t>
            </a:r>
          </a:p>
        </p:txBody>
      </p:sp>
      <p:sp>
        <p:nvSpPr>
          <p:cNvPr id="23" name="TextBox 22"/>
          <p:cNvSpPr txBox="1"/>
          <p:nvPr/>
        </p:nvSpPr>
        <p:spPr>
          <a:xfrm>
            <a:off x="3154680" y="3840480"/>
            <a:ext cx="1188720" cy="457200"/>
          </a:xfrm>
          <a:prstGeom prst="rect">
            <a:avLst/>
          </a:prstGeom>
          <a:noFill/>
        </p:spPr>
        <p:txBody>
          <a:bodyPr wrap="square">
            <a:spAutoFit/>
          </a:bodyPr>
          <a:lstStyle/>
          <a:p>
            <a:pPr algn="ctr"/>
            <a:r>
              <a:rPr sz="1200" b="1">
                <a:solidFill>
                  <a:srgbClr val="1AA396"/>
                </a:solidFill>
                <a:latin typeface="Calibri"/>
              </a:rPr>
              <a:t>enseigne</a:t>
            </a:r>
          </a:p>
        </p:txBody>
      </p:sp>
      <p:sp>
        <p:nvSpPr>
          <p:cNvPr id="24" name="Rounded Rectangle 23"/>
          <p:cNvSpPr/>
          <p:nvPr/>
        </p:nvSpPr>
        <p:spPr>
          <a:xfrm>
            <a:off x="4297680" y="3017520"/>
            <a:ext cx="1645920" cy="2377440"/>
          </a:xfrm>
          <a:prstGeom prst="roundRect">
            <a:avLst/>
          </a:prstGeom>
          <a:solidFill>
            <a:srgbClr val="0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3383280"/>
            <a:ext cx="1645920" cy="457200"/>
          </a:xfrm>
          <a:prstGeom prst="rect">
            <a:avLst/>
          </a:prstGeom>
          <a:noFill/>
        </p:spPr>
        <p:txBody>
          <a:bodyPr wrap="square">
            <a:spAutoFit/>
          </a:bodyPr>
          <a:lstStyle/>
          <a:p>
            <a:pPr algn="ctr"/>
            <a:r>
              <a:rPr sz="1600" b="1">
                <a:solidFill>
                  <a:srgbClr val="FFFFFF"/>
                </a:solidFill>
                <a:latin typeface="Calibri"/>
              </a:rPr>
              <a:t>COURS</a:t>
            </a:r>
          </a:p>
        </p:txBody>
      </p:sp>
      <p:sp>
        <p:nvSpPr>
          <p:cNvPr id="26" name="TextBox 25"/>
          <p:cNvSpPr txBox="1"/>
          <p:nvPr/>
        </p:nvSpPr>
        <p:spPr>
          <a:xfrm>
            <a:off x="4297680" y="3931920"/>
            <a:ext cx="1645920" cy="731520"/>
          </a:xfrm>
          <a:prstGeom prst="rect">
            <a:avLst/>
          </a:prstGeom>
          <a:noFill/>
        </p:spPr>
        <p:txBody>
          <a:bodyPr wrap="square">
            <a:spAutoFit/>
          </a:bodyPr>
          <a:lstStyle/>
          <a:p>
            <a:pPr algn="ctr"/>
            <a:r>
              <a:rPr sz="1400" b="0">
                <a:solidFill>
                  <a:srgbClr val="FFFFFF"/>
                </a:solidFill>
                <a:latin typeface="Calibri"/>
              </a:rPr>
              <a:t>PK  id_cours
(1,1)</a:t>
            </a:r>
          </a:p>
        </p:txBody>
      </p:sp>
      <p:sp>
        <p:nvSpPr>
          <p:cNvPr id="27" name="Rounded Rectangle 26"/>
          <p:cNvSpPr/>
          <p:nvPr/>
        </p:nvSpPr>
        <p:spPr>
          <a:xfrm>
            <a:off x="6446520" y="2286000"/>
            <a:ext cx="5303520" cy="56692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2395728"/>
            <a:ext cx="1828800" cy="365760"/>
          </a:xfrm>
          <a:prstGeom prst="rect">
            <a:avLst/>
          </a:prstGeom>
          <a:noFill/>
        </p:spPr>
        <p:txBody>
          <a:bodyPr wrap="square">
            <a:spAutoFit/>
          </a:bodyPr>
          <a:lstStyle/>
          <a:p>
            <a:pPr algn="l"/>
            <a:r>
              <a:rPr sz="1400" b="1">
                <a:solidFill>
                  <a:srgbClr val="1AA396"/>
                </a:solidFill>
                <a:latin typeface="Calibri"/>
              </a:rPr>
              <a:t>PK</a:t>
            </a:r>
          </a:p>
        </p:txBody>
      </p:sp>
      <p:sp>
        <p:nvSpPr>
          <p:cNvPr id="29" name="TextBox 28"/>
          <p:cNvSpPr txBox="1"/>
          <p:nvPr/>
        </p:nvSpPr>
        <p:spPr>
          <a:xfrm>
            <a:off x="8412480" y="2395728"/>
            <a:ext cx="3200400" cy="365760"/>
          </a:xfrm>
          <a:prstGeom prst="rect">
            <a:avLst/>
          </a:prstGeom>
          <a:noFill/>
        </p:spPr>
        <p:txBody>
          <a:bodyPr wrap="square">
            <a:spAutoFit/>
          </a:bodyPr>
          <a:lstStyle/>
          <a:p>
            <a:pPr algn="l"/>
            <a:r>
              <a:rPr sz="1300" b="0">
                <a:solidFill>
                  <a:srgbClr val="1C2B3A"/>
                </a:solidFill>
                <a:latin typeface="Calibri"/>
              </a:rPr>
              <a:t>ID_FORMATEUR, ID_COURS</a:t>
            </a:r>
          </a:p>
        </p:txBody>
      </p:sp>
      <p:sp>
        <p:nvSpPr>
          <p:cNvPr id="30" name="Rounded Rectangle 29"/>
          <p:cNvSpPr/>
          <p:nvPr/>
        </p:nvSpPr>
        <p:spPr>
          <a:xfrm>
            <a:off x="6446520" y="2926080"/>
            <a:ext cx="5303520" cy="56692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035808"/>
            <a:ext cx="1828800" cy="365760"/>
          </a:xfrm>
          <a:prstGeom prst="rect">
            <a:avLst/>
          </a:prstGeom>
          <a:noFill/>
        </p:spPr>
        <p:txBody>
          <a:bodyPr wrap="square">
            <a:spAutoFit/>
          </a:bodyPr>
          <a:lstStyle/>
          <a:p>
            <a:pPr algn="l"/>
            <a:r>
              <a:rPr sz="1400" b="1">
                <a:solidFill>
                  <a:srgbClr val="1AA396"/>
                </a:solidFill>
                <a:latin typeface="Calibri"/>
              </a:rPr>
              <a:t>FK</a:t>
            </a:r>
          </a:p>
        </p:txBody>
      </p:sp>
      <p:sp>
        <p:nvSpPr>
          <p:cNvPr id="32" name="TextBox 31"/>
          <p:cNvSpPr txBox="1"/>
          <p:nvPr/>
        </p:nvSpPr>
        <p:spPr>
          <a:xfrm>
            <a:off x="8412480" y="3035808"/>
            <a:ext cx="3200400" cy="365760"/>
          </a:xfrm>
          <a:prstGeom prst="rect">
            <a:avLst/>
          </a:prstGeom>
          <a:noFill/>
        </p:spPr>
        <p:txBody>
          <a:bodyPr wrap="square">
            <a:spAutoFit/>
          </a:bodyPr>
          <a:lstStyle/>
          <a:p>
            <a:pPr algn="l"/>
            <a:r>
              <a:rPr sz="1300" b="0">
                <a:solidFill>
                  <a:srgbClr val="1C2B3A"/>
                </a:solidFill>
                <a:latin typeface="Calibri"/>
              </a:rPr>
              <a:t>COURS.ID_FORMATEUR → FORMATEUR</a:t>
            </a:r>
          </a:p>
        </p:txBody>
      </p:sp>
      <p:sp>
        <p:nvSpPr>
          <p:cNvPr id="33" name="Rounded Rectangle 32"/>
          <p:cNvSpPr/>
          <p:nvPr/>
        </p:nvSpPr>
        <p:spPr>
          <a:xfrm>
            <a:off x="6446520" y="3566160"/>
            <a:ext cx="5303520" cy="56692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3675888"/>
            <a:ext cx="1828800" cy="365760"/>
          </a:xfrm>
          <a:prstGeom prst="rect">
            <a:avLst/>
          </a:prstGeom>
          <a:noFill/>
        </p:spPr>
        <p:txBody>
          <a:bodyPr wrap="square">
            <a:spAutoFit/>
          </a:bodyPr>
          <a:lstStyle/>
          <a:p>
            <a:pPr algn="l"/>
            <a:r>
              <a:rPr sz="1400" b="1">
                <a:solidFill>
                  <a:srgbClr val="1AA396"/>
                </a:solidFill>
                <a:latin typeface="Calibri"/>
              </a:rPr>
              <a:t>UNIQUE</a:t>
            </a:r>
          </a:p>
        </p:txBody>
      </p:sp>
      <p:sp>
        <p:nvSpPr>
          <p:cNvPr id="35" name="TextBox 34"/>
          <p:cNvSpPr txBox="1"/>
          <p:nvPr/>
        </p:nvSpPr>
        <p:spPr>
          <a:xfrm>
            <a:off x="8412480" y="3675888"/>
            <a:ext cx="3200400" cy="365760"/>
          </a:xfrm>
          <a:prstGeom prst="rect">
            <a:avLst/>
          </a:prstGeom>
          <a:noFill/>
        </p:spPr>
        <p:txBody>
          <a:bodyPr wrap="square">
            <a:spAutoFit/>
          </a:bodyPr>
          <a:lstStyle/>
          <a:p>
            <a:pPr algn="l"/>
            <a:r>
              <a:rPr sz="1300" b="0">
                <a:solidFill>
                  <a:srgbClr val="1C2B3A"/>
                </a:solidFill>
                <a:latin typeface="Calibri"/>
              </a:rPr>
              <a:t>CIN, e-mail</a:t>
            </a:r>
          </a:p>
        </p:txBody>
      </p:sp>
      <p:sp>
        <p:nvSpPr>
          <p:cNvPr id="36" name="Rounded Rectangle 35"/>
          <p:cNvSpPr/>
          <p:nvPr/>
        </p:nvSpPr>
        <p:spPr>
          <a:xfrm>
            <a:off x="6446520" y="4206240"/>
            <a:ext cx="5303520" cy="56692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4315968"/>
            <a:ext cx="1828800" cy="365760"/>
          </a:xfrm>
          <a:prstGeom prst="rect">
            <a:avLst/>
          </a:prstGeom>
          <a:noFill/>
        </p:spPr>
        <p:txBody>
          <a:bodyPr wrap="square">
            <a:spAutoFit/>
          </a:bodyPr>
          <a:lstStyle/>
          <a:p>
            <a:pPr algn="l"/>
            <a:r>
              <a:rPr sz="1400" b="1">
                <a:solidFill>
                  <a:srgbClr val="1AA396"/>
                </a:solidFill>
                <a:latin typeface="Calibri"/>
              </a:rPr>
              <a:t>CHECK</a:t>
            </a:r>
          </a:p>
        </p:txBody>
      </p:sp>
      <p:sp>
        <p:nvSpPr>
          <p:cNvPr id="38" name="TextBox 37"/>
          <p:cNvSpPr txBox="1"/>
          <p:nvPr/>
        </p:nvSpPr>
        <p:spPr>
          <a:xfrm>
            <a:off x="8412480" y="4315968"/>
            <a:ext cx="3200400" cy="365760"/>
          </a:xfrm>
          <a:prstGeom prst="rect">
            <a:avLst/>
          </a:prstGeom>
          <a:noFill/>
        </p:spPr>
        <p:txBody>
          <a:bodyPr wrap="square">
            <a:spAutoFit/>
          </a:bodyPr>
          <a:lstStyle/>
          <a:p>
            <a:pPr algn="l"/>
            <a:r>
              <a:rPr sz="1300" b="0">
                <a:solidFill>
                  <a:srgbClr val="1C2B3A"/>
                </a:solidFill>
                <a:latin typeface="Calibri"/>
              </a:rPr>
              <a:t>CIN, statuts, dates, prix</a:t>
            </a:r>
          </a:p>
        </p:txBody>
      </p:sp>
      <p:sp>
        <p:nvSpPr>
          <p:cNvPr id="39" name="Rounded Rectangle 38"/>
          <p:cNvSpPr/>
          <p:nvPr/>
        </p:nvSpPr>
        <p:spPr>
          <a:xfrm>
            <a:off x="6446520" y="4846320"/>
            <a:ext cx="5303520" cy="56692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0" y="4956048"/>
            <a:ext cx="1828800" cy="365760"/>
          </a:xfrm>
          <a:prstGeom prst="rect">
            <a:avLst/>
          </a:prstGeom>
          <a:noFill/>
        </p:spPr>
        <p:txBody>
          <a:bodyPr wrap="square">
            <a:spAutoFit/>
          </a:bodyPr>
          <a:lstStyle/>
          <a:p>
            <a:pPr algn="l"/>
            <a:r>
              <a:rPr sz="1400" b="1">
                <a:solidFill>
                  <a:srgbClr val="1AA396"/>
                </a:solidFill>
                <a:latin typeface="Calibri"/>
              </a:rPr>
              <a:t>Séquences / triggers</a:t>
            </a:r>
          </a:p>
        </p:txBody>
      </p:sp>
      <p:sp>
        <p:nvSpPr>
          <p:cNvPr id="41" name="TextBox 40"/>
          <p:cNvSpPr txBox="1"/>
          <p:nvPr/>
        </p:nvSpPr>
        <p:spPr>
          <a:xfrm>
            <a:off x="8412480" y="4956048"/>
            <a:ext cx="3200400" cy="365760"/>
          </a:xfrm>
          <a:prstGeom prst="rect">
            <a:avLst/>
          </a:prstGeom>
          <a:noFill/>
        </p:spPr>
        <p:txBody>
          <a:bodyPr wrap="square">
            <a:spAutoFit/>
          </a:bodyPr>
          <a:lstStyle/>
          <a:p>
            <a:pPr algn="l"/>
            <a:r>
              <a:rPr sz="1300" b="0">
                <a:solidFill>
                  <a:srgbClr val="1C2B3A"/>
                </a:solidFill>
                <a:latin typeface="Calibri"/>
              </a:rPr>
              <a:t>SEQ_*  +  TRG_*_BI</a:t>
            </a:r>
          </a:p>
        </p:txBody>
      </p:sp>
      <p:sp>
        <p:nvSpPr>
          <p:cNvPr id="42" name="Rounded Rectangle 41"/>
          <p:cNvSpPr/>
          <p:nvPr/>
        </p:nvSpPr>
        <p:spPr>
          <a:xfrm>
            <a:off x="6446520" y="5486400"/>
            <a:ext cx="5303520" cy="56692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0" y="5596128"/>
            <a:ext cx="1828800" cy="365760"/>
          </a:xfrm>
          <a:prstGeom prst="rect">
            <a:avLst/>
          </a:prstGeom>
          <a:noFill/>
        </p:spPr>
        <p:txBody>
          <a:bodyPr wrap="square">
            <a:spAutoFit/>
          </a:bodyPr>
          <a:lstStyle/>
          <a:p>
            <a:pPr algn="l"/>
            <a:r>
              <a:rPr sz="1400" b="1">
                <a:solidFill>
                  <a:srgbClr val="1AA396"/>
                </a:solidFill>
                <a:latin typeface="Calibri"/>
              </a:rPr>
              <a:t>Intégrité</a:t>
            </a:r>
          </a:p>
        </p:txBody>
      </p:sp>
      <p:sp>
        <p:nvSpPr>
          <p:cNvPr id="44" name="TextBox 43"/>
          <p:cNvSpPr txBox="1"/>
          <p:nvPr/>
        </p:nvSpPr>
        <p:spPr>
          <a:xfrm>
            <a:off x="8412480" y="5596128"/>
            <a:ext cx="3200400" cy="365760"/>
          </a:xfrm>
          <a:prstGeom prst="rect">
            <a:avLst/>
          </a:prstGeom>
          <a:noFill/>
        </p:spPr>
        <p:txBody>
          <a:bodyPr wrap="square">
            <a:spAutoFit/>
          </a:bodyPr>
          <a:lstStyle/>
          <a:p>
            <a:pPr algn="l"/>
            <a:r>
              <a:rPr sz="1300" b="0">
                <a:solidFill>
                  <a:srgbClr val="1C2B3A"/>
                </a:solidFill>
                <a:latin typeface="Calibri"/>
              </a:rPr>
              <a:t>ORA-02292 si formateur utilisé</a:t>
            </a:r>
          </a:p>
        </p:txBody>
      </p:sp>
      <p:sp>
        <p:nvSpPr>
          <p:cNvPr id="45" name="TextBox 44"/>
          <p:cNvSpPr txBox="1"/>
          <p:nvPr/>
        </p:nvSpPr>
        <p:spPr>
          <a:xfrm>
            <a:off x="457200" y="6565392"/>
            <a:ext cx="9144000" cy="256032"/>
          </a:xfrm>
          <a:prstGeom prst="rect">
            <a:avLst/>
          </a:prstGeom>
          <a:noFill/>
        </p:spPr>
        <p:txBody>
          <a:bodyPr wrap="square">
            <a:spAutoFit/>
          </a:bodyPr>
          <a:lstStyle/>
          <a:p>
            <a:pPr algn="l"/>
            <a:r>
              <a:rPr sz="1100" b="0">
                <a:solidFill>
                  <a:srgbClr val="4A5B6B"/>
                </a:solidFill>
                <a:latin typeface="Calibri"/>
              </a:rPr>
              <a:t>GCentreFormation  ·  FormaPlus  ·  Validation septembre 2026</a:t>
            </a:r>
          </a:p>
        </p:txBody>
      </p:sp>
      <p:sp>
        <p:nvSpPr>
          <p:cNvPr id="46" name="TextBox 45"/>
          <p:cNvSpPr txBox="1"/>
          <p:nvPr/>
        </p:nvSpPr>
        <p:spPr>
          <a:xfrm>
            <a:off x="10607040" y="6565392"/>
            <a:ext cx="1097280" cy="256032"/>
          </a:xfrm>
          <a:prstGeom prst="rect">
            <a:avLst/>
          </a:prstGeom>
          <a:noFill/>
        </p:spPr>
        <p:txBody>
          <a:bodyPr wrap="square">
            <a:spAutoFit/>
          </a:bodyPr>
          <a:lstStyle/>
          <a:p>
            <a:pPr algn="r"/>
            <a:r>
              <a:rPr sz="1100" b="0">
                <a:solidFill>
                  <a:srgbClr val="4A5B6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960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CRUD + validation</a:t>
            </a:r>
          </a:p>
        </p:txBody>
      </p:sp>
      <p:sp>
        <p:nvSpPr>
          <p:cNvPr id="6" name="TextBox 5"/>
          <p:cNvSpPr txBox="1"/>
          <p:nvPr/>
        </p:nvSpPr>
        <p:spPr>
          <a:xfrm>
            <a:off x="457200" y="640080"/>
            <a:ext cx="10972800" cy="320040"/>
          </a:xfrm>
          <a:prstGeom prst="rect">
            <a:avLst/>
          </a:prstGeom>
          <a:noFill/>
        </p:spPr>
        <p:txBody>
          <a:bodyPr wrap="square">
            <a:spAutoFit/>
          </a:bodyPr>
          <a:lstStyle/>
          <a:p>
            <a:pPr algn="l"/>
            <a:r>
              <a:rPr sz="1300" b="0">
                <a:solidFill>
                  <a:srgbClr val="B8C9D6"/>
                </a:solidFill>
                <a:latin typeface="Calibri"/>
              </a:rPr>
              <a:t>Captures réelles de l’application</a:t>
            </a:r>
          </a:p>
        </p:txBody>
      </p:sp>
      <p:pic>
        <p:nvPicPr>
          <p:cNvPr id="7" name="Picture 6" descr="02_formateurs_crud.png"/>
          <p:cNvPicPr>
            <a:picLocks noChangeAspect="1"/>
          </p:cNvPicPr>
          <p:nvPr/>
        </p:nvPicPr>
        <p:blipFill>
          <a:blip r:embed="rId2"/>
          <a:stretch>
            <a:fillRect/>
          </a:stretch>
        </p:blipFill>
        <p:spPr>
          <a:xfrm>
            <a:off x="320040" y="1280160"/>
            <a:ext cx="5760720" cy="3246120"/>
          </a:xfrm>
          <a:prstGeom prst="rect">
            <a:avLst/>
          </a:prstGeom>
        </p:spPr>
      </p:pic>
      <p:pic>
        <p:nvPicPr>
          <p:cNvPr id="8" name="Picture 7" descr="04_cours_crud.png"/>
          <p:cNvPicPr>
            <a:picLocks noChangeAspect="1"/>
          </p:cNvPicPr>
          <p:nvPr/>
        </p:nvPicPr>
        <p:blipFill>
          <a:blip r:embed="rId3"/>
          <a:stretch>
            <a:fillRect/>
          </a:stretch>
        </p:blipFill>
        <p:spPr>
          <a:xfrm>
            <a:off x="6172200" y="1280160"/>
            <a:ext cx="5760720" cy="3246120"/>
          </a:xfrm>
          <a:prstGeom prst="rect">
            <a:avLst/>
          </a:prstGeom>
        </p:spPr>
      </p:pic>
      <p:sp>
        <p:nvSpPr>
          <p:cNvPr id="9" name="TextBox 8"/>
          <p:cNvSpPr txBox="1"/>
          <p:nvPr/>
        </p:nvSpPr>
        <p:spPr>
          <a:xfrm>
            <a:off x="320040" y="4526280"/>
            <a:ext cx="5760720" cy="274320"/>
          </a:xfrm>
          <a:prstGeom prst="rect">
            <a:avLst/>
          </a:prstGeom>
          <a:noFill/>
        </p:spPr>
        <p:txBody>
          <a:bodyPr wrap="square">
            <a:spAutoFit/>
          </a:bodyPr>
          <a:lstStyle/>
          <a:p>
            <a:pPr algn="ctr"/>
            <a:r>
              <a:rPr sz="1200" b="1">
                <a:solidFill>
                  <a:srgbClr val="0B1F3A"/>
                </a:solidFill>
                <a:latin typeface="Calibri"/>
              </a:rPr>
              <a:t>Formateurs  ·  CREATE READ UPDATE DELETE</a:t>
            </a:r>
          </a:p>
        </p:txBody>
      </p:sp>
      <p:sp>
        <p:nvSpPr>
          <p:cNvPr id="10" name="TextBox 9"/>
          <p:cNvSpPr txBox="1"/>
          <p:nvPr/>
        </p:nvSpPr>
        <p:spPr>
          <a:xfrm>
            <a:off x="6172200" y="4526280"/>
            <a:ext cx="5760720" cy="274320"/>
          </a:xfrm>
          <a:prstGeom prst="rect">
            <a:avLst/>
          </a:prstGeom>
          <a:noFill/>
        </p:spPr>
        <p:txBody>
          <a:bodyPr wrap="square">
            <a:spAutoFit/>
          </a:bodyPr>
          <a:lstStyle/>
          <a:p>
            <a:pPr algn="ctr"/>
            <a:r>
              <a:rPr sz="1200" b="1">
                <a:solidFill>
                  <a:srgbClr val="0B1F3A"/>
                </a:solidFill>
                <a:latin typeface="Calibri"/>
              </a:rPr>
              <a:t>Cours  ·  CREATE READ UPDATE DELETE</a:t>
            </a:r>
          </a:p>
        </p:txBody>
      </p:sp>
      <p:sp>
        <p:nvSpPr>
          <p:cNvPr id="11" name="Rounded Rectangle 10"/>
          <p:cNvSpPr/>
          <p:nvPr/>
        </p:nvSpPr>
        <p:spPr>
          <a:xfrm>
            <a:off x="365760" y="4937760"/>
            <a:ext cx="2788920" cy="6400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5047488"/>
            <a:ext cx="2788920" cy="411480"/>
          </a:xfrm>
          <a:prstGeom prst="rect">
            <a:avLst/>
          </a:prstGeom>
          <a:noFill/>
        </p:spPr>
        <p:txBody>
          <a:bodyPr wrap="square">
            <a:spAutoFit/>
          </a:bodyPr>
          <a:lstStyle/>
          <a:p>
            <a:pPr algn="ctr"/>
            <a:r>
              <a:rPr sz="1300" b="1">
                <a:solidFill>
                  <a:srgbClr val="FFFFFF"/>
                </a:solidFill>
                <a:latin typeface="Calibri"/>
              </a:rPr>
              <a:t>valider() C++</a:t>
            </a:r>
          </a:p>
        </p:txBody>
      </p:sp>
      <p:sp>
        <p:nvSpPr>
          <p:cNvPr id="13" name="Rounded Rectangle 12"/>
          <p:cNvSpPr/>
          <p:nvPr/>
        </p:nvSpPr>
        <p:spPr>
          <a:xfrm>
            <a:off x="3291840" y="4937760"/>
            <a:ext cx="2788920" cy="6400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5047488"/>
            <a:ext cx="2788920" cy="411480"/>
          </a:xfrm>
          <a:prstGeom prst="rect">
            <a:avLst/>
          </a:prstGeom>
          <a:noFill/>
        </p:spPr>
        <p:txBody>
          <a:bodyPr wrap="square">
            <a:spAutoFit/>
          </a:bodyPr>
          <a:lstStyle/>
          <a:p>
            <a:pPr algn="ctr"/>
            <a:r>
              <a:rPr sz="1300" b="1">
                <a:solidFill>
                  <a:srgbClr val="FFFFFF"/>
                </a:solidFill>
                <a:latin typeface="Calibri"/>
              </a:rPr>
              <a:t>CHECK / UNIQUE / FK Oracle</a:t>
            </a:r>
          </a:p>
        </p:txBody>
      </p:sp>
      <p:sp>
        <p:nvSpPr>
          <p:cNvPr id="15" name="Rounded Rectangle 14"/>
          <p:cNvSpPr/>
          <p:nvPr/>
        </p:nvSpPr>
        <p:spPr>
          <a:xfrm>
            <a:off x="6217920" y="4937760"/>
            <a:ext cx="2788920" cy="6400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5047488"/>
            <a:ext cx="2788920" cy="411480"/>
          </a:xfrm>
          <a:prstGeom prst="rect">
            <a:avLst/>
          </a:prstGeom>
          <a:noFill/>
        </p:spPr>
        <p:txBody>
          <a:bodyPr wrap="square">
            <a:spAutoFit/>
          </a:bodyPr>
          <a:lstStyle/>
          <a:p>
            <a:pPr algn="ctr"/>
            <a:r>
              <a:rPr sz="1300" b="1">
                <a:solidFill>
                  <a:srgbClr val="FFFFFF"/>
                </a:solidFill>
                <a:latin typeface="Calibri"/>
              </a:rPr>
              <a:t>Messages d’erreur métier</a:t>
            </a:r>
          </a:p>
        </p:txBody>
      </p:sp>
      <p:sp>
        <p:nvSpPr>
          <p:cNvPr id="17" name="Rounded Rectangle 16"/>
          <p:cNvSpPr/>
          <p:nvPr/>
        </p:nvSpPr>
        <p:spPr>
          <a:xfrm>
            <a:off x="9144000" y="4937760"/>
            <a:ext cx="2788920" cy="64008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5047488"/>
            <a:ext cx="2788920" cy="411480"/>
          </a:xfrm>
          <a:prstGeom prst="rect">
            <a:avLst/>
          </a:prstGeom>
          <a:noFill/>
        </p:spPr>
        <p:txBody>
          <a:bodyPr wrap="square">
            <a:spAutoFit/>
          </a:bodyPr>
          <a:lstStyle/>
          <a:p>
            <a:pPr algn="ctr"/>
            <a:r>
              <a:rPr sz="1300" b="1">
                <a:solidFill>
                  <a:srgbClr val="FFFFFF"/>
                </a:solidFill>
                <a:latin typeface="Calibri"/>
              </a:rPr>
              <a:t>Intégrité référentielle</a:t>
            </a:r>
          </a:p>
        </p:txBody>
      </p:sp>
      <p:sp>
        <p:nvSpPr>
          <p:cNvPr id="19" name="TextBox 18"/>
          <p:cNvSpPr txBox="1"/>
          <p:nvPr/>
        </p:nvSpPr>
        <p:spPr>
          <a:xfrm>
            <a:off x="457200" y="6565392"/>
            <a:ext cx="9144000" cy="256032"/>
          </a:xfrm>
          <a:prstGeom prst="rect">
            <a:avLst/>
          </a:prstGeom>
          <a:noFill/>
        </p:spPr>
        <p:txBody>
          <a:bodyPr wrap="square">
            <a:spAutoFit/>
          </a:bodyPr>
          <a:lstStyle/>
          <a:p>
            <a:pPr algn="l"/>
            <a:r>
              <a:rPr sz="1100" b="0">
                <a:solidFill>
                  <a:srgbClr val="4A5B6B"/>
                </a:solidFill>
                <a:latin typeface="Calibri"/>
              </a:rPr>
              <a:t>GCentreFormation  ·  FormaPlus  ·  Validation septembre 2026</a:t>
            </a:r>
          </a:p>
        </p:txBody>
      </p:sp>
      <p:sp>
        <p:nvSpPr>
          <p:cNvPr id="20" name="TextBox 19"/>
          <p:cNvSpPr txBox="1"/>
          <p:nvPr/>
        </p:nvSpPr>
        <p:spPr>
          <a:xfrm>
            <a:off x="10607040" y="6565392"/>
            <a:ext cx="1097280" cy="256032"/>
          </a:xfrm>
          <a:prstGeom prst="rect">
            <a:avLst/>
          </a:prstGeom>
          <a:noFill/>
        </p:spPr>
        <p:txBody>
          <a:bodyPr wrap="square">
            <a:spAutoFit/>
          </a:bodyPr>
          <a:lstStyle/>
          <a:p>
            <a:pPr algn="r"/>
            <a:r>
              <a:rPr sz="1100" b="0">
                <a:solidFill>
                  <a:srgbClr val="4A5B6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960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Métiers implémentés</a:t>
            </a:r>
          </a:p>
        </p:txBody>
      </p:sp>
      <p:sp>
        <p:nvSpPr>
          <p:cNvPr id="6" name="TextBox 5"/>
          <p:cNvSpPr txBox="1"/>
          <p:nvPr/>
        </p:nvSpPr>
        <p:spPr>
          <a:xfrm>
            <a:off x="457200" y="640080"/>
            <a:ext cx="10972800" cy="320040"/>
          </a:xfrm>
          <a:prstGeom prst="rect">
            <a:avLst/>
          </a:prstGeom>
          <a:noFill/>
        </p:spPr>
        <p:txBody>
          <a:bodyPr wrap="square">
            <a:spAutoFit/>
          </a:bodyPr>
          <a:lstStyle/>
          <a:p>
            <a:pPr algn="l"/>
            <a:r>
              <a:rPr sz="1300" b="0">
                <a:solidFill>
                  <a:srgbClr val="B8C9D6"/>
                </a:solidFill>
                <a:latin typeface="Calibri"/>
              </a:rPr>
              <a:t>Fonctionnalités avancées réellement codées</a:t>
            </a:r>
          </a:p>
        </p:txBody>
      </p:sp>
      <p:sp>
        <p:nvSpPr>
          <p:cNvPr id="7" name="Rounded Rectangle 6"/>
          <p:cNvSpPr/>
          <p:nvPr/>
        </p:nvSpPr>
        <p:spPr>
          <a:xfrm>
            <a:off x="365760" y="1325880"/>
            <a:ext cx="2788920" cy="196596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25880"/>
            <a:ext cx="2788920"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54480"/>
            <a:ext cx="2514600" cy="365760"/>
          </a:xfrm>
          <a:prstGeom prst="rect">
            <a:avLst/>
          </a:prstGeom>
          <a:noFill/>
        </p:spPr>
        <p:txBody>
          <a:bodyPr wrap="square">
            <a:spAutoFit/>
          </a:bodyPr>
          <a:lstStyle/>
          <a:p>
            <a:pPr algn="l"/>
            <a:r>
              <a:rPr sz="1600" b="1">
                <a:solidFill>
                  <a:srgbClr val="0B1F3A"/>
                </a:solidFill>
                <a:latin typeface="Calibri"/>
              </a:rPr>
              <a:t>Recherche ≥ 3</a:t>
            </a:r>
          </a:p>
        </p:txBody>
      </p:sp>
      <p:sp>
        <p:nvSpPr>
          <p:cNvPr id="10" name="TextBox 9"/>
          <p:cNvSpPr txBox="1"/>
          <p:nvPr/>
        </p:nvSpPr>
        <p:spPr>
          <a:xfrm>
            <a:off x="502920" y="2011680"/>
            <a:ext cx="2514600" cy="1051560"/>
          </a:xfrm>
          <a:prstGeom prst="rect">
            <a:avLst/>
          </a:prstGeom>
          <a:noFill/>
        </p:spPr>
        <p:txBody>
          <a:bodyPr wrap="square">
            <a:spAutoFit/>
          </a:bodyPr>
          <a:lstStyle/>
          <a:p>
            <a:pPr algn="l"/>
            <a:r>
              <a:rPr sz="1300" b="0">
                <a:solidFill>
                  <a:srgbClr val="4A5B6B"/>
                </a:solidFill>
                <a:latin typeface="Calibri"/>
              </a:rPr>
              <a:t>Nom, spécialité, statut
Titre, niveau, statut</a:t>
            </a:r>
          </a:p>
        </p:txBody>
      </p:sp>
      <p:sp>
        <p:nvSpPr>
          <p:cNvPr id="11" name="Rounded Rectangle 10"/>
          <p:cNvSpPr/>
          <p:nvPr/>
        </p:nvSpPr>
        <p:spPr>
          <a:xfrm>
            <a:off x="3291840" y="1325880"/>
            <a:ext cx="2788920" cy="196596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325880"/>
            <a:ext cx="2788920"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554480"/>
            <a:ext cx="2514600" cy="365760"/>
          </a:xfrm>
          <a:prstGeom prst="rect">
            <a:avLst/>
          </a:prstGeom>
          <a:noFill/>
        </p:spPr>
        <p:txBody>
          <a:bodyPr wrap="square">
            <a:spAutoFit/>
          </a:bodyPr>
          <a:lstStyle/>
          <a:p>
            <a:pPr algn="l"/>
            <a:r>
              <a:rPr sz="1600" b="1">
                <a:solidFill>
                  <a:srgbClr val="0B1F3A"/>
                </a:solidFill>
                <a:latin typeface="Calibri"/>
              </a:rPr>
              <a:t>Tri</a:t>
            </a:r>
          </a:p>
        </p:txBody>
      </p:sp>
      <p:sp>
        <p:nvSpPr>
          <p:cNvPr id="14" name="TextBox 13"/>
          <p:cNvSpPr txBox="1"/>
          <p:nvPr/>
        </p:nvSpPr>
        <p:spPr>
          <a:xfrm>
            <a:off x="3429000" y="2011680"/>
            <a:ext cx="2514600" cy="1051560"/>
          </a:xfrm>
          <a:prstGeom prst="rect">
            <a:avLst/>
          </a:prstGeom>
          <a:noFill/>
        </p:spPr>
        <p:txBody>
          <a:bodyPr wrap="square">
            <a:spAutoFit/>
          </a:bodyPr>
          <a:lstStyle/>
          <a:p>
            <a:pPr algn="l"/>
            <a:r>
              <a:rPr sz="1300" b="0">
                <a:solidFill>
                  <a:srgbClr val="4A5B6B"/>
                </a:solidFill>
                <a:latin typeface="Calibri"/>
              </a:rPr>
              <a:t>Liste blanche de colonnes
ASC / DESC</a:t>
            </a:r>
          </a:p>
        </p:txBody>
      </p:sp>
      <p:sp>
        <p:nvSpPr>
          <p:cNvPr id="15" name="Rounded Rectangle 14"/>
          <p:cNvSpPr/>
          <p:nvPr/>
        </p:nvSpPr>
        <p:spPr>
          <a:xfrm>
            <a:off x="6217920" y="1325880"/>
            <a:ext cx="2788920" cy="196596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325880"/>
            <a:ext cx="2788920"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554480"/>
            <a:ext cx="2514600" cy="365760"/>
          </a:xfrm>
          <a:prstGeom prst="rect">
            <a:avLst/>
          </a:prstGeom>
          <a:noFill/>
        </p:spPr>
        <p:txBody>
          <a:bodyPr wrap="square">
            <a:spAutoFit/>
          </a:bodyPr>
          <a:lstStyle/>
          <a:p>
            <a:pPr algn="l"/>
            <a:r>
              <a:rPr sz="1600" b="1">
                <a:solidFill>
                  <a:srgbClr val="0B1F3A"/>
                </a:solidFill>
                <a:latin typeface="Calibri"/>
              </a:rPr>
              <a:t>Stats live</a:t>
            </a:r>
          </a:p>
        </p:txBody>
      </p:sp>
      <p:sp>
        <p:nvSpPr>
          <p:cNvPr id="18" name="TextBox 17"/>
          <p:cNvSpPr txBox="1"/>
          <p:nvPr/>
        </p:nvSpPr>
        <p:spPr>
          <a:xfrm>
            <a:off x="6355080" y="2011680"/>
            <a:ext cx="2514600" cy="1051560"/>
          </a:xfrm>
          <a:prstGeom prst="rect">
            <a:avLst/>
          </a:prstGeom>
          <a:noFill/>
        </p:spPr>
        <p:txBody>
          <a:bodyPr wrap="square">
            <a:spAutoFit/>
          </a:bodyPr>
          <a:lstStyle/>
          <a:p>
            <a:pPr algn="l"/>
            <a:r>
              <a:rPr sz="1300" b="0">
                <a:solidFill>
                  <a:srgbClr val="4A5B6B"/>
                </a:solidFill>
                <a:latin typeface="Calibri"/>
              </a:rPr>
              <a:t>chargerTout()
après chaque CRUD</a:t>
            </a:r>
          </a:p>
        </p:txBody>
      </p:sp>
      <p:sp>
        <p:nvSpPr>
          <p:cNvPr id="19" name="Rounded Rectangle 18"/>
          <p:cNvSpPr/>
          <p:nvPr/>
        </p:nvSpPr>
        <p:spPr>
          <a:xfrm>
            <a:off x="9144000" y="1325880"/>
            <a:ext cx="2788920" cy="196596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1325880"/>
            <a:ext cx="2788920"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1554480"/>
            <a:ext cx="2514600" cy="365760"/>
          </a:xfrm>
          <a:prstGeom prst="rect">
            <a:avLst/>
          </a:prstGeom>
          <a:noFill/>
        </p:spPr>
        <p:txBody>
          <a:bodyPr wrap="square">
            <a:spAutoFit/>
          </a:bodyPr>
          <a:lstStyle/>
          <a:p>
            <a:pPr algn="l"/>
            <a:r>
              <a:rPr sz="1600" b="1">
                <a:solidFill>
                  <a:srgbClr val="0B1F3A"/>
                </a:solidFill>
                <a:latin typeface="Calibri"/>
              </a:rPr>
              <a:t>PDF</a:t>
            </a:r>
          </a:p>
        </p:txBody>
      </p:sp>
      <p:sp>
        <p:nvSpPr>
          <p:cNvPr id="22" name="TextBox 21"/>
          <p:cNvSpPr txBox="1"/>
          <p:nvPr/>
        </p:nvSpPr>
        <p:spPr>
          <a:xfrm>
            <a:off x="9281160" y="2011680"/>
            <a:ext cx="2514600" cy="1051560"/>
          </a:xfrm>
          <a:prstGeom prst="rect">
            <a:avLst/>
          </a:prstGeom>
          <a:noFill/>
        </p:spPr>
        <p:txBody>
          <a:bodyPr wrap="square">
            <a:spAutoFit/>
          </a:bodyPr>
          <a:lstStyle/>
          <a:p>
            <a:pPr algn="l"/>
            <a:r>
              <a:rPr sz="1300" b="0">
                <a:solidFill>
                  <a:srgbClr val="4A5B6B"/>
                </a:solidFill>
                <a:latin typeface="Calibri"/>
              </a:rPr>
              <a:t>QPdfWriter personnalisé
fiche / liste / catalogue</a:t>
            </a:r>
          </a:p>
        </p:txBody>
      </p:sp>
      <p:sp>
        <p:nvSpPr>
          <p:cNvPr id="23" name="Rounded Rectangle 22"/>
          <p:cNvSpPr/>
          <p:nvPr/>
        </p:nvSpPr>
        <p:spPr>
          <a:xfrm>
            <a:off x="365760" y="3520440"/>
            <a:ext cx="5715000" cy="233172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520440"/>
            <a:ext cx="5715000" cy="502920"/>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3593592"/>
            <a:ext cx="5303520" cy="365760"/>
          </a:xfrm>
          <a:prstGeom prst="rect">
            <a:avLst/>
          </a:prstGeom>
          <a:noFill/>
        </p:spPr>
        <p:txBody>
          <a:bodyPr wrap="square">
            <a:spAutoFit/>
          </a:bodyPr>
          <a:lstStyle/>
          <a:p>
            <a:pPr algn="l"/>
            <a:r>
              <a:rPr sz="1600" b="1">
                <a:solidFill>
                  <a:srgbClr val="FFFFFF"/>
                </a:solidFill>
                <a:latin typeface="Calibri"/>
              </a:rPr>
              <a:t>Formateurs</a:t>
            </a:r>
          </a:p>
        </p:txBody>
      </p:sp>
      <p:sp>
        <p:nvSpPr>
          <p:cNvPr id="26" name="TextBox 25"/>
          <p:cNvSpPr txBox="1"/>
          <p:nvPr/>
        </p:nvSpPr>
        <p:spPr>
          <a:xfrm>
            <a:off x="640080" y="4206240"/>
            <a:ext cx="5212080" cy="502920"/>
          </a:xfrm>
          <a:prstGeom prst="rect">
            <a:avLst/>
          </a:prstGeom>
          <a:noFill/>
        </p:spPr>
        <p:txBody>
          <a:bodyPr wrap="square">
            <a:spAutoFit/>
          </a:bodyPr>
          <a:lstStyle/>
          <a:p>
            <a:pPr algn="l"/>
            <a:r>
              <a:rPr sz="1500" b="0">
                <a:solidFill>
                  <a:srgbClr val="1C2B3A"/>
                </a:solidFill>
                <a:latin typeface="Calibri"/>
              </a:rPr>
              <a:t>▸  Charge pédagogique  —  cours + heures</a:t>
            </a:r>
          </a:p>
        </p:txBody>
      </p:sp>
      <p:sp>
        <p:nvSpPr>
          <p:cNvPr id="27" name="TextBox 26"/>
          <p:cNvSpPr txBox="1"/>
          <p:nvPr/>
        </p:nvSpPr>
        <p:spPr>
          <a:xfrm>
            <a:off x="640080" y="4846320"/>
            <a:ext cx="5212080" cy="502920"/>
          </a:xfrm>
          <a:prstGeom prst="rect">
            <a:avLst/>
          </a:prstGeom>
          <a:noFill/>
        </p:spPr>
        <p:txBody>
          <a:bodyPr wrap="square">
            <a:spAutoFit/>
          </a:bodyPr>
          <a:lstStyle/>
          <a:p>
            <a:pPr algn="l"/>
            <a:r>
              <a:rPr sz="1500" b="0">
                <a:solidFill>
                  <a:srgbClr val="1C2B3A"/>
                </a:solidFill>
                <a:latin typeface="Calibri"/>
              </a:rPr>
              <a:t>▸  Conflits  —  mêmes dates, même formateur</a:t>
            </a:r>
          </a:p>
        </p:txBody>
      </p:sp>
      <p:sp>
        <p:nvSpPr>
          <p:cNvPr id="28" name="Rounded Rectangle 27"/>
          <p:cNvSpPr/>
          <p:nvPr/>
        </p:nvSpPr>
        <p:spPr>
          <a:xfrm>
            <a:off x="6263640" y="3520440"/>
            <a:ext cx="5715000" cy="233172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3520440"/>
            <a:ext cx="5715000" cy="5029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3593592"/>
            <a:ext cx="5303520" cy="365760"/>
          </a:xfrm>
          <a:prstGeom prst="rect">
            <a:avLst/>
          </a:prstGeom>
          <a:noFill/>
        </p:spPr>
        <p:txBody>
          <a:bodyPr wrap="square">
            <a:spAutoFit/>
          </a:bodyPr>
          <a:lstStyle/>
          <a:p>
            <a:pPr algn="l"/>
            <a:r>
              <a:rPr sz="1600" b="1">
                <a:solidFill>
                  <a:srgbClr val="FFFFFF"/>
                </a:solidFill>
                <a:latin typeface="Calibri"/>
              </a:rPr>
              <a:t>Cours</a:t>
            </a:r>
          </a:p>
        </p:txBody>
      </p:sp>
      <p:sp>
        <p:nvSpPr>
          <p:cNvPr id="31" name="TextBox 30"/>
          <p:cNvSpPr txBox="1"/>
          <p:nvPr/>
        </p:nvSpPr>
        <p:spPr>
          <a:xfrm>
            <a:off x="6537960" y="4206240"/>
            <a:ext cx="5212080" cy="502920"/>
          </a:xfrm>
          <a:prstGeom prst="rect">
            <a:avLst/>
          </a:prstGeom>
          <a:noFill/>
        </p:spPr>
        <p:txBody>
          <a:bodyPr wrap="square">
            <a:spAutoFit/>
          </a:bodyPr>
          <a:lstStyle/>
          <a:p>
            <a:pPr algn="l"/>
            <a:r>
              <a:rPr sz="1500" b="0">
                <a:solidFill>
                  <a:srgbClr val="1C2B3A"/>
                </a:solidFill>
                <a:latin typeface="Calibri"/>
              </a:rPr>
              <a:t>▸  Affectation  —  UPDATE ID_FORMATEUR</a:t>
            </a:r>
          </a:p>
        </p:txBody>
      </p:sp>
      <p:sp>
        <p:nvSpPr>
          <p:cNvPr id="32" name="TextBox 31"/>
          <p:cNvSpPr txBox="1"/>
          <p:nvPr/>
        </p:nvSpPr>
        <p:spPr>
          <a:xfrm>
            <a:off x="6537960" y="4846320"/>
            <a:ext cx="5212080" cy="502920"/>
          </a:xfrm>
          <a:prstGeom prst="rect">
            <a:avLst/>
          </a:prstGeom>
          <a:noFill/>
        </p:spPr>
        <p:txBody>
          <a:bodyPr wrap="square">
            <a:spAutoFit/>
          </a:bodyPr>
          <a:lstStyle/>
          <a:p>
            <a:pPr algn="l"/>
            <a:r>
              <a:rPr sz="1500" b="0">
                <a:solidFill>
                  <a:srgbClr val="1C2B3A"/>
                </a:solidFill>
                <a:latin typeface="Calibri"/>
              </a:rPr>
              <a:t>▸  Alertes  —  7 jours, inactif, chevauchement</a:t>
            </a:r>
          </a:p>
        </p:txBody>
      </p:sp>
      <p:sp>
        <p:nvSpPr>
          <p:cNvPr id="33" name="TextBox 32"/>
          <p:cNvSpPr txBox="1"/>
          <p:nvPr/>
        </p:nvSpPr>
        <p:spPr>
          <a:xfrm>
            <a:off x="457200" y="6565392"/>
            <a:ext cx="9144000" cy="256032"/>
          </a:xfrm>
          <a:prstGeom prst="rect">
            <a:avLst/>
          </a:prstGeom>
          <a:noFill/>
        </p:spPr>
        <p:txBody>
          <a:bodyPr wrap="square">
            <a:spAutoFit/>
          </a:bodyPr>
          <a:lstStyle/>
          <a:p>
            <a:pPr algn="l"/>
            <a:r>
              <a:rPr sz="1100" b="0">
                <a:solidFill>
                  <a:srgbClr val="4A5B6B"/>
                </a:solidFill>
                <a:latin typeface="Calibri"/>
              </a:rPr>
              <a:t>GCentreFormation  ·  FormaPlus  ·  Validation septembre 2026</a:t>
            </a:r>
          </a:p>
        </p:txBody>
      </p:sp>
      <p:sp>
        <p:nvSpPr>
          <p:cNvPr id="34" name="TextBox 33"/>
          <p:cNvSpPr txBox="1"/>
          <p:nvPr/>
        </p:nvSpPr>
        <p:spPr>
          <a:xfrm>
            <a:off x="10607040" y="6565392"/>
            <a:ext cx="1097280" cy="256032"/>
          </a:xfrm>
          <a:prstGeom prst="rect">
            <a:avLst/>
          </a:prstGeom>
          <a:noFill/>
        </p:spPr>
        <p:txBody>
          <a:bodyPr wrap="square">
            <a:spAutoFit/>
          </a:bodyPr>
          <a:lstStyle/>
          <a:p>
            <a:pPr algn="r"/>
            <a:r>
              <a:rPr sz="1100" b="0">
                <a:solidFill>
                  <a:srgbClr val="4A5B6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960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Qualité et accès aux données</a:t>
            </a:r>
          </a:p>
        </p:txBody>
      </p:sp>
      <p:sp>
        <p:nvSpPr>
          <p:cNvPr id="6" name="TextBox 5"/>
          <p:cNvSpPr txBox="1"/>
          <p:nvPr/>
        </p:nvSpPr>
        <p:spPr>
          <a:xfrm>
            <a:off x="457200" y="640080"/>
            <a:ext cx="10972800" cy="320040"/>
          </a:xfrm>
          <a:prstGeom prst="rect">
            <a:avLst/>
          </a:prstGeom>
          <a:noFill/>
        </p:spPr>
        <p:txBody>
          <a:bodyPr wrap="square">
            <a:spAutoFit/>
          </a:bodyPr>
          <a:lstStyle/>
          <a:p>
            <a:pPr algn="l"/>
            <a:r>
              <a:rPr sz="1300" b="0">
                <a:solidFill>
                  <a:srgbClr val="B8C9D6"/>
                </a:solidFill>
                <a:latin typeface="Calibri"/>
              </a:rPr>
              <a:t>Pratiques réellement présentes dans le code</a:t>
            </a:r>
          </a:p>
        </p:txBody>
      </p:sp>
      <p:sp>
        <p:nvSpPr>
          <p:cNvPr id="7" name="Rounded Rectangle 6"/>
          <p:cNvSpPr/>
          <p:nvPr/>
        </p:nvSpPr>
        <p:spPr>
          <a:xfrm>
            <a:off x="365760" y="1371600"/>
            <a:ext cx="2788920" cy="320040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71600"/>
            <a:ext cx="2788920" cy="6400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81328"/>
            <a:ext cx="2514600" cy="457200"/>
          </a:xfrm>
          <a:prstGeom prst="rect">
            <a:avLst/>
          </a:prstGeom>
          <a:noFill/>
        </p:spPr>
        <p:txBody>
          <a:bodyPr wrap="square">
            <a:spAutoFit/>
          </a:bodyPr>
          <a:lstStyle/>
          <a:p>
            <a:pPr algn="l"/>
            <a:r>
              <a:rPr sz="1600" b="1">
                <a:solidFill>
                  <a:srgbClr val="FFFFFF"/>
                </a:solidFill>
                <a:latin typeface="Calibri"/>
              </a:rPr>
              <a:t>1  Singleton</a:t>
            </a:r>
          </a:p>
        </p:txBody>
      </p:sp>
      <p:sp>
        <p:nvSpPr>
          <p:cNvPr id="10" name="TextBox 9"/>
          <p:cNvSpPr txBox="1"/>
          <p:nvPr/>
        </p:nvSpPr>
        <p:spPr>
          <a:xfrm>
            <a:off x="548640" y="2240280"/>
            <a:ext cx="2423160" cy="2011680"/>
          </a:xfrm>
          <a:prstGeom prst="rect">
            <a:avLst/>
          </a:prstGeom>
          <a:noFill/>
        </p:spPr>
        <p:txBody>
          <a:bodyPr wrap="square">
            <a:spAutoFit/>
          </a:bodyPr>
          <a:lstStyle/>
          <a:p>
            <a:pPr algn="l"/>
            <a:r>
              <a:rPr sz="1600" b="0">
                <a:solidFill>
                  <a:srgbClr val="1C2B3A"/>
                </a:solidFill>
                <a:latin typeface="Calibri"/>
              </a:rPr>
              <a:t>Connection::instance()
constructeur privé
copie = delete</a:t>
            </a:r>
          </a:p>
        </p:txBody>
      </p:sp>
      <p:sp>
        <p:nvSpPr>
          <p:cNvPr id="11" name="Rounded Rectangle 10"/>
          <p:cNvSpPr/>
          <p:nvPr/>
        </p:nvSpPr>
        <p:spPr>
          <a:xfrm>
            <a:off x="3291840" y="1371600"/>
            <a:ext cx="2788920" cy="320040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371600"/>
            <a:ext cx="2788920" cy="640080"/>
          </a:xfrm>
          <a:prstGeom prst="rect">
            <a:avLst/>
          </a:prstGeom>
          <a:solidFill>
            <a:srgbClr val="0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481328"/>
            <a:ext cx="2514600" cy="457200"/>
          </a:xfrm>
          <a:prstGeom prst="rect">
            <a:avLst/>
          </a:prstGeom>
          <a:noFill/>
        </p:spPr>
        <p:txBody>
          <a:bodyPr wrap="square">
            <a:spAutoFit/>
          </a:bodyPr>
          <a:lstStyle/>
          <a:p>
            <a:pPr algn="l"/>
            <a:r>
              <a:rPr sz="1600" b="1">
                <a:solidFill>
                  <a:srgbClr val="FFFFFF"/>
                </a:solidFill>
                <a:latin typeface="Calibri"/>
              </a:rPr>
              <a:t>2  Requêtes préparées</a:t>
            </a:r>
          </a:p>
        </p:txBody>
      </p:sp>
      <p:sp>
        <p:nvSpPr>
          <p:cNvPr id="14" name="TextBox 13"/>
          <p:cNvSpPr txBox="1"/>
          <p:nvPr/>
        </p:nvSpPr>
        <p:spPr>
          <a:xfrm>
            <a:off x="3474720" y="2240280"/>
            <a:ext cx="2423160" cy="2011680"/>
          </a:xfrm>
          <a:prstGeom prst="rect">
            <a:avLst/>
          </a:prstGeom>
          <a:noFill/>
        </p:spPr>
        <p:txBody>
          <a:bodyPr wrap="square">
            <a:spAutoFit/>
          </a:bodyPr>
          <a:lstStyle/>
          <a:p>
            <a:pPr algn="l"/>
            <a:r>
              <a:rPr sz="1600" b="0">
                <a:solidFill>
                  <a:srgbClr val="1C2B3A"/>
                </a:solidFill>
                <a:latin typeface="Calibri"/>
              </a:rPr>
              <a:t>prepare()
bindValue()
exec()</a:t>
            </a:r>
          </a:p>
        </p:txBody>
      </p:sp>
      <p:sp>
        <p:nvSpPr>
          <p:cNvPr id="15" name="Rounded Rectangle 14"/>
          <p:cNvSpPr/>
          <p:nvPr/>
        </p:nvSpPr>
        <p:spPr>
          <a:xfrm>
            <a:off x="6217920" y="1371600"/>
            <a:ext cx="2788920" cy="320040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371600"/>
            <a:ext cx="2788920" cy="6400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481328"/>
            <a:ext cx="2514600" cy="457200"/>
          </a:xfrm>
          <a:prstGeom prst="rect">
            <a:avLst/>
          </a:prstGeom>
          <a:noFill/>
        </p:spPr>
        <p:txBody>
          <a:bodyPr wrap="square">
            <a:spAutoFit/>
          </a:bodyPr>
          <a:lstStyle/>
          <a:p>
            <a:pPr algn="l"/>
            <a:r>
              <a:rPr sz="1600" b="1">
                <a:solidFill>
                  <a:srgbClr val="FFFFFF"/>
                </a:solidFill>
                <a:latin typeface="Calibri"/>
              </a:rPr>
              <a:t>3  Double validation</a:t>
            </a:r>
          </a:p>
        </p:txBody>
      </p:sp>
      <p:sp>
        <p:nvSpPr>
          <p:cNvPr id="18" name="TextBox 17"/>
          <p:cNvSpPr txBox="1"/>
          <p:nvPr/>
        </p:nvSpPr>
        <p:spPr>
          <a:xfrm>
            <a:off x="6400800" y="2240280"/>
            <a:ext cx="2423160" cy="2011680"/>
          </a:xfrm>
          <a:prstGeom prst="rect">
            <a:avLst/>
          </a:prstGeom>
          <a:noFill/>
        </p:spPr>
        <p:txBody>
          <a:bodyPr wrap="square">
            <a:spAutoFit/>
          </a:bodyPr>
          <a:lstStyle/>
          <a:p>
            <a:pPr algn="l"/>
            <a:r>
              <a:rPr sz="1600" b="0">
                <a:solidFill>
                  <a:srgbClr val="1C2B3A"/>
                </a:solidFill>
                <a:latin typeface="Calibri"/>
              </a:rPr>
              <a:t>valider() en C++
CHECK / UNIQUE / FK</a:t>
            </a:r>
          </a:p>
        </p:txBody>
      </p:sp>
      <p:sp>
        <p:nvSpPr>
          <p:cNvPr id="19" name="Rounded Rectangle 18"/>
          <p:cNvSpPr/>
          <p:nvPr/>
        </p:nvSpPr>
        <p:spPr>
          <a:xfrm>
            <a:off x="9144000" y="1371600"/>
            <a:ext cx="2788920" cy="3200400"/>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1371600"/>
            <a:ext cx="2788920" cy="640080"/>
          </a:xfrm>
          <a:prstGeom prst="rect">
            <a:avLst/>
          </a:prstGeom>
          <a:solidFill>
            <a:srgbClr val="0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1481328"/>
            <a:ext cx="2514600" cy="457200"/>
          </a:xfrm>
          <a:prstGeom prst="rect">
            <a:avLst/>
          </a:prstGeom>
          <a:noFill/>
        </p:spPr>
        <p:txBody>
          <a:bodyPr wrap="square">
            <a:spAutoFit/>
          </a:bodyPr>
          <a:lstStyle/>
          <a:p>
            <a:pPr algn="l"/>
            <a:r>
              <a:rPr sz="1600" b="1">
                <a:solidFill>
                  <a:srgbClr val="FFFFFF"/>
                </a:solidFill>
                <a:latin typeface="Calibri"/>
              </a:rPr>
              <a:t>4  SQL hors GUI</a:t>
            </a:r>
          </a:p>
        </p:txBody>
      </p:sp>
      <p:sp>
        <p:nvSpPr>
          <p:cNvPr id="22" name="TextBox 21"/>
          <p:cNvSpPr txBox="1"/>
          <p:nvPr/>
        </p:nvSpPr>
        <p:spPr>
          <a:xfrm>
            <a:off x="9326880" y="2240280"/>
            <a:ext cx="2423160" cy="2011680"/>
          </a:xfrm>
          <a:prstGeom prst="rect">
            <a:avLst/>
          </a:prstGeom>
          <a:noFill/>
        </p:spPr>
        <p:txBody>
          <a:bodyPr wrap="square">
            <a:spAutoFit/>
          </a:bodyPr>
          <a:lstStyle/>
          <a:p>
            <a:pPr algn="l"/>
            <a:r>
              <a:rPr sz="1600" b="0">
                <a:solidFill>
                  <a:srgbClr val="1C2B3A"/>
                </a:solidFill>
                <a:latin typeface="Calibri"/>
              </a:rPr>
              <a:t>pas de SQL dans les slots
classes Formateur / Cours</a:t>
            </a:r>
          </a:p>
        </p:txBody>
      </p:sp>
      <p:sp>
        <p:nvSpPr>
          <p:cNvPr id="23" name="Rounded Rectangle 22"/>
          <p:cNvSpPr/>
          <p:nvPr/>
        </p:nvSpPr>
        <p:spPr>
          <a:xfrm>
            <a:off x="365760" y="4800600"/>
            <a:ext cx="11430000" cy="105156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029200"/>
            <a:ext cx="11064240" cy="640080"/>
          </a:xfrm>
          <a:prstGeom prst="rect">
            <a:avLst/>
          </a:prstGeom>
          <a:noFill/>
        </p:spPr>
        <p:txBody>
          <a:bodyPr wrap="square">
            <a:spAutoFit/>
          </a:bodyPr>
          <a:lstStyle/>
          <a:p>
            <a:pPr algn="ctr"/>
            <a:r>
              <a:rPr sz="2000" b="1">
                <a:solidFill>
                  <a:srgbClr val="FFFFFF"/>
                </a:solidFill>
                <a:latin typeface="Calibri"/>
              </a:rPr>
              <a:t>Les requêtes préparées réduisent les risques d’injection SQL.</a:t>
            </a:r>
          </a:p>
        </p:txBody>
      </p:sp>
      <p:sp>
        <p:nvSpPr>
          <p:cNvPr id="25" name="TextBox 24"/>
          <p:cNvSpPr txBox="1"/>
          <p:nvPr/>
        </p:nvSpPr>
        <p:spPr>
          <a:xfrm>
            <a:off x="457200" y="6565392"/>
            <a:ext cx="9144000" cy="256032"/>
          </a:xfrm>
          <a:prstGeom prst="rect">
            <a:avLst/>
          </a:prstGeom>
          <a:noFill/>
        </p:spPr>
        <p:txBody>
          <a:bodyPr wrap="square">
            <a:spAutoFit/>
          </a:bodyPr>
          <a:lstStyle/>
          <a:p>
            <a:pPr algn="l"/>
            <a:r>
              <a:rPr sz="1100" b="0">
                <a:solidFill>
                  <a:srgbClr val="4A5B6B"/>
                </a:solidFill>
                <a:latin typeface="Calibri"/>
              </a:rPr>
              <a:t>GCentreFormation  ·  FormaPlus  ·  Validation septembre 2026</a:t>
            </a:r>
          </a:p>
        </p:txBody>
      </p:sp>
      <p:sp>
        <p:nvSpPr>
          <p:cNvPr id="26" name="TextBox 25"/>
          <p:cNvSpPr txBox="1"/>
          <p:nvPr/>
        </p:nvSpPr>
        <p:spPr>
          <a:xfrm>
            <a:off x="10607040" y="6565392"/>
            <a:ext cx="1097280" cy="256032"/>
          </a:xfrm>
          <a:prstGeom prst="rect">
            <a:avLst/>
          </a:prstGeom>
          <a:noFill/>
        </p:spPr>
        <p:txBody>
          <a:bodyPr wrap="square">
            <a:spAutoFit/>
          </a:bodyPr>
          <a:lstStyle/>
          <a:p>
            <a:pPr algn="r"/>
            <a:r>
              <a:rPr sz="1100" b="0">
                <a:solidFill>
                  <a:srgbClr val="4A5B6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960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Démonstration de l’application</a:t>
            </a:r>
          </a:p>
        </p:txBody>
      </p:sp>
      <p:sp>
        <p:nvSpPr>
          <p:cNvPr id="6" name="TextBox 5"/>
          <p:cNvSpPr txBox="1"/>
          <p:nvPr/>
        </p:nvSpPr>
        <p:spPr>
          <a:xfrm>
            <a:off x="457200" y="640080"/>
            <a:ext cx="10972800" cy="320040"/>
          </a:xfrm>
          <a:prstGeom prst="rect">
            <a:avLst/>
          </a:prstGeom>
          <a:noFill/>
        </p:spPr>
        <p:txBody>
          <a:bodyPr wrap="square">
            <a:spAutoFit/>
          </a:bodyPr>
          <a:lstStyle/>
          <a:p>
            <a:pPr algn="l"/>
            <a:r>
              <a:rPr sz="1300" b="0">
                <a:solidFill>
                  <a:srgbClr val="B8C9D6"/>
                </a:solidFill>
                <a:latin typeface="Calibri"/>
              </a:rPr>
              <a:t>Ordre de la démo — captures réelles</a:t>
            </a:r>
          </a:p>
        </p:txBody>
      </p:sp>
      <p:pic>
        <p:nvPicPr>
          <p:cNvPr id="7" name="Picture 6" descr="01_accueil.png"/>
          <p:cNvPicPr>
            <a:picLocks noChangeAspect="1"/>
          </p:cNvPicPr>
          <p:nvPr/>
        </p:nvPicPr>
        <p:blipFill>
          <a:blip r:embed="rId2"/>
          <a:stretch>
            <a:fillRect/>
          </a:stretch>
        </p:blipFill>
        <p:spPr>
          <a:xfrm>
            <a:off x="4297680" y="1280160"/>
            <a:ext cx="7498079" cy="4892040"/>
          </a:xfrm>
          <a:prstGeom prst="rect">
            <a:avLst/>
          </a:prstGeom>
        </p:spPr>
      </p:pic>
      <p:sp>
        <p:nvSpPr>
          <p:cNvPr id="8" name="Rounded Rectangle 7"/>
          <p:cNvSpPr/>
          <p:nvPr/>
        </p:nvSpPr>
        <p:spPr>
          <a:xfrm>
            <a:off x="320040" y="1280160"/>
            <a:ext cx="3794760" cy="475488"/>
          </a:xfrm>
          <a:prstGeom prst="round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35024"/>
            <a:ext cx="3566160" cy="365760"/>
          </a:xfrm>
          <a:prstGeom prst="rect">
            <a:avLst/>
          </a:prstGeom>
          <a:noFill/>
        </p:spPr>
        <p:txBody>
          <a:bodyPr wrap="square">
            <a:spAutoFit/>
          </a:bodyPr>
          <a:lstStyle/>
          <a:p>
            <a:pPr algn="l"/>
            <a:r>
              <a:rPr sz="1300" b="1">
                <a:solidFill>
                  <a:srgbClr val="FFFFFF"/>
                </a:solidFill>
                <a:latin typeface="Calibri"/>
              </a:rPr>
              <a:t>1  Accueil  KPI + graphiques</a:t>
            </a:r>
          </a:p>
        </p:txBody>
      </p:sp>
      <p:sp>
        <p:nvSpPr>
          <p:cNvPr id="10" name="Rounded Rectangle 9"/>
          <p:cNvSpPr/>
          <p:nvPr/>
        </p:nvSpPr>
        <p:spPr>
          <a:xfrm>
            <a:off x="320040" y="1810512"/>
            <a:ext cx="3794760" cy="47548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65376"/>
            <a:ext cx="3566160" cy="365760"/>
          </a:xfrm>
          <a:prstGeom prst="rect">
            <a:avLst/>
          </a:prstGeom>
          <a:noFill/>
        </p:spPr>
        <p:txBody>
          <a:bodyPr wrap="square">
            <a:spAutoFit/>
          </a:bodyPr>
          <a:lstStyle/>
          <a:p>
            <a:pPr algn="l"/>
            <a:r>
              <a:rPr sz="1300" b="0">
                <a:solidFill>
                  <a:srgbClr val="1C2B3A"/>
                </a:solidFill>
                <a:latin typeface="Calibri"/>
              </a:rPr>
              <a:t>2  Formateurs CRUD</a:t>
            </a:r>
          </a:p>
        </p:txBody>
      </p:sp>
      <p:sp>
        <p:nvSpPr>
          <p:cNvPr id="12" name="Rounded Rectangle 11"/>
          <p:cNvSpPr/>
          <p:nvPr/>
        </p:nvSpPr>
        <p:spPr>
          <a:xfrm>
            <a:off x="320040" y="2340863"/>
            <a:ext cx="3794760" cy="47548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95727"/>
            <a:ext cx="3566160" cy="365760"/>
          </a:xfrm>
          <a:prstGeom prst="rect">
            <a:avLst/>
          </a:prstGeom>
          <a:noFill/>
        </p:spPr>
        <p:txBody>
          <a:bodyPr wrap="square">
            <a:spAutoFit/>
          </a:bodyPr>
          <a:lstStyle/>
          <a:p>
            <a:pPr algn="l"/>
            <a:r>
              <a:rPr sz="1300" b="0">
                <a:solidFill>
                  <a:srgbClr val="1C2B3A"/>
                </a:solidFill>
                <a:latin typeface="Calibri"/>
              </a:rPr>
              <a:t>3  Recherche / tri</a:t>
            </a:r>
          </a:p>
        </p:txBody>
      </p:sp>
      <p:sp>
        <p:nvSpPr>
          <p:cNvPr id="14" name="Rounded Rectangle 13"/>
          <p:cNvSpPr/>
          <p:nvPr/>
        </p:nvSpPr>
        <p:spPr>
          <a:xfrm>
            <a:off x="320040" y="2871215"/>
            <a:ext cx="3794760" cy="47548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926079"/>
            <a:ext cx="3566160" cy="365760"/>
          </a:xfrm>
          <a:prstGeom prst="rect">
            <a:avLst/>
          </a:prstGeom>
          <a:noFill/>
        </p:spPr>
        <p:txBody>
          <a:bodyPr wrap="square">
            <a:spAutoFit/>
          </a:bodyPr>
          <a:lstStyle/>
          <a:p>
            <a:pPr algn="l"/>
            <a:r>
              <a:rPr sz="1300" b="0">
                <a:solidFill>
                  <a:srgbClr val="1C2B3A"/>
                </a:solidFill>
                <a:latin typeface="Calibri"/>
              </a:rPr>
              <a:t>4  Statistiques live</a:t>
            </a:r>
          </a:p>
        </p:txBody>
      </p:sp>
      <p:sp>
        <p:nvSpPr>
          <p:cNvPr id="16" name="Rounded Rectangle 15"/>
          <p:cNvSpPr/>
          <p:nvPr/>
        </p:nvSpPr>
        <p:spPr>
          <a:xfrm>
            <a:off x="320040" y="3401568"/>
            <a:ext cx="3794760" cy="47548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456432"/>
            <a:ext cx="3566160" cy="365760"/>
          </a:xfrm>
          <a:prstGeom prst="rect">
            <a:avLst/>
          </a:prstGeom>
          <a:noFill/>
        </p:spPr>
        <p:txBody>
          <a:bodyPr wrap="square">
            <a:spAutoFit/>
          </a:bodyPr>
          <a:lstStyle/>
          <a:p>
            <a:pPr algn="l"/>
            <a:r>
              <a:rPr sz="1300" b="0">
                <a:solidFill>
                  <a:srgbClr val="1C2B3A"/>
                </a:solidFill>
                <a:latin typeface="Calibri"/>
              </a:rPr>
              <a:t>5  PDF fiche / liste</a:t>
            </a:r>
          </a:p>
        </p:txBody>
      </p:sp>
      <p:sp>
        <p:nvSpPr>
          <p:cNvPr id="18" name="Rounded Rectangle 17"/>
          <p:cNvSpPr/>
          <p:nvPr/>
        </p:nvSpPr>
        <p:spPr>
          <a:xfrm>
            <a:off x="320040" y="3931920"/>
            <a:ext cx="3794760" cy="47548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986784"/>
            <a:ext cx="3566160" cy="365760"/>
          </a:xfrm>
          <a:prstGeom prst="rect">
            <a:avLst/>
          </a:prstGeom>
          <a:noFill/>
        </p:spPr>
        <p:txBody>
          <a:bodyPr wrap="square">
            <a:spAutoFit/>
          </a:bodyPr>
          <a:lstStyle/>
          <a:p>
            <a:pPr algn="l"/>
            <a:r>
              <a:rPr sz="1300" b="0">
                <a:solidFill>
                  <a:srgbClr val="1C2B3A"/>
                </a:solidFill>
                <a:latin typeface="Calibri"/>
              </a:rPr>
              <a:t>6  Charge / conflits</a:t>
            </a:r>
          </a:p>
        </p:txBody>
      </p:sp>
      <p:sp>
        <p:nvSpPr>
          <p:cNvPr id="20" name="Rounded Rectangle 19"/>
          <p:cNvSpPr/>
          <p:nvPr/>
        </p:nvSpPr>
        <p:spPr>
          <a:xfrm>
            <a:off x="320040" y="4462271"/>
            <a:ext cx="3794760" cy="47548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517135"/>
            <a:ext cx="3566160" cy="365760"/>
          </a:xfrm>
          <a:prstGeom prst="rect">
            <a:avLst/>
          </a:prstGeom>
          <a:noFill/>
        </p:spPr>
        <p:txBody>
          <a:bodyPr wrap="square">
            <a:spAutoFit/>
          </a:bodyPr>
          <a:lstStyle/>
          <a:p>
            <a:pPr algn="l"/>
            <a:r>
              <a:rPr sz="1300" b="0">
                <a:solidFill>
                  <a:srgbClr val="1C2B3A"/>
                </a:solidFill>
                <a:latin typeface="Calibri"/>
              </a:rPr>
              <a:t>7  Cours CRUD</a:t>
            </a:r>
          </a:p>
        </p:txBody>
      </p:sp>
      <p:sp>
        <p:nvSpPr>
          <p:cNvPr id="22" name="Rounded Rectangle 21"/>
          <p:cNvSpPr/>
          <p:nvPr/>
        </p:nvSpPr>
        <p:spPr>
          <a:xfrm>
            <a:off x="320040" y="4992623"/>
            <a:ext cx="3794760" cy="47548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047487"/>
            <a:ext cx="3566160" cy="365760"/>
          </a:xfrm>
          <a:prstGeom prst="rect">
            <a:avLst/>
          </a:prstGeom>
          <a:noFill/>
        </p:spPr>
        <p:txBody>
          <a:bodyPr wrap="square">
            <a:spAutoFit/>
          </a:bodyPr>
          <a:lstStyle/>
          <a:p>
            <a:pPr algn="l"/>
            <a:r>
              <a:rPr sz="1300" b="0">
                <a:solidFill>
                  <a:srgbClr val="1C2B3A"/>
                </a:solidFill>
                <a:latin typeface="Calibri"/>
              </a:rPr>
              <a:t>8  Recherche / stats</a:t>
            </a:r>
          </a:p>
        </p:txBody>
      </p:sp>
      <p:sp>
        <p:nvSpPr>
          <p:cNvPr id="24" name="Rounded Rectangle 23"/>
          <p:cNvSpPr/>
          <p:nvPr/>
        </p:nvSpPr>
        <p:spPr>
          <a:xfrm>
            <a:off x="320040" y="5522975"/>
            <a:ext cx="3794760" cy="475488"/>
          </a:xfrm>
          <a:prstGeom prst="roundRect">
            <a:avLst/>
          </a:prstGeom>
          <a:solidFill>
            <a:srgbClr val="FFFFFF"/>
          </a:solidFill>
          <a:ln>
            <a:solidFill>
              <a:srgbClr val="D5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577839"/>
            <a:ext cx="3566160" cy="365760"/>
          </a:xfrm>
          <a:prstGeom prst="rect">
            <a:avLst/>
          </a:prstGeom>
          <a:noFill/>
        </p:spPr>
        <p:txBody>
          <a:bodyPr wrap="square">
            <a:spAutoFit/>
          </a:bodyPr>
          <a:lstStyle/>
          <a:p>
            <a:pPr algn="l"/>
            <a:r>
              <a:rPr sz="1300" b="0">
                <a:solidFill>
                  <a:srgbClr val="1C2B3A"/>
                </a:solidFill>
                <a:latin typeface="Calibri"/>
              </a:rPr>
              <a:t>9  Affectation / alertes</a:t>
            </a:r>
          </a:p>
        </p:txBody>
      </p:sp>
      <p:sp>
        <p:nvSpPr>
          <p:cNvPr id="26" name="TextBox 25"/>
          <p:cNvSpPr txBox="1"/>
          <p:nvPr/>
        </p:nvSpPr>
        <p:spPr>
          <a:xfrm>
            <a:off x="457200" y="6565392"/>
            <a:ext cx="9144000" cy="256032"/>
          </a:xfrm>
          <a:prstGeom prst="rect">
            <a:avLst/>
          </a:prstGeom>
          <a:noFill/>
        </p:spPr>
        <p:txBody>
          <a:bodyPr wrap="square">
            <a:spAutoFit/>
          </a:bodyPr>
          <a:lstStyle/>
          <a:p>
            <a:pPr algn="l"/>
            <a:r>
              <a:rPr sz="1100" b="0">
                <a:solidFill>
                  <a:srgbClr val="4A5B6B"/>
                </a:solidFill>
                <a:latin typeface="Calibri"/>
              </a:rPr>
              <a:t>GCentreFormation  ·  FormaPlus  ·  Validation septembre 2026</a:t>
            </a:r>
          </a:p>
        </p:txBody>
      </p:sp>
      <p:sp>
        <p:nvSpPr>
          <p:cNvPr id="27" name="TextBox 26"/>
          <p:cNvSpPr txBox="1"/>
          <p:nvPr/>
        </p:nvSpPr>
        <p:spPr>
          <a:xfrm>
            <a:off x="10607040" y="6565392"/>
            <a:ext cx="1097280" cy="256032"/>
          </a:xfrm>
          <a:prstGeom prst="rect">
            <a:avLst/>
          </a:prstGeom>
          <a:noFill/>
        </p:spPr>
        <p:txBody>
          <a:bodyPr wrap="square">
            <a:spAutoFit/>
          </a:bodyPr>
          <a:lstStyle/>
          <a:p>
            <a:pPr algn="r"/>
            <a:r>
              <a:rPr sz="1100" b="0">
                <a:solidFill>
                  <a:srgbClr val="4A5B6B"/>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972800" cy="457200"/>
          </a:xfrm>
          <a:prstGeom prst="rect">
            <a:avLst/>
          </a:prstGeom>
          <a:noFill/>
        </p:spPr>
        <p:txBody>
          <a:bodyPr wrap="square">
            <a:spAutoFit/>
          </a:bodyPr>
          <a:lstStyle/>
          <a:p>
            <a:pPr algn="l"/>
            <a:r>
              <a:rPr sz="2800" b="1">
                <a:solidFill>
                  <a:srgbClr val="FFFFFF"/>
                </a:solidFill>
                <a:latin typeface="Calibri"/>
              </a:rPr>
              <a:t>Conclusion</a:t>
            </a:r>
          </a:p>
        </p:txBody>
      </p:sp>
      <p:sp>
        <p:nvSpPr>
          <p:cNvPr id="5" name="TextBox 4"/>
          <p:cNvSpPr txBox="1"/>
          <p:nvPr/>
        </p:nvSpPr>
        <p:spPr>
          <a:xfrm>
            <a:off x="777240" y="1143000"/>
            <a:ext cx="10789920" cy="457200"/>
          </a:xfrm>
          <a:prstGeom prst="rect">
            <a:avLst/>
          </a:prstGeom>
          <a:noFill/>
        </p:spPr>
        <p:txBody>
          <a:bodyPr wrap="square">
            <a:spAutoFit/>
          </a:bodyPr>
          <a:lstStyle/>
          <a:p>
            <a:pPr algn="l"/>
            <a:r>
              <a:rPr sz="1600" b="0">
                <a:solidFill>
                  <a:srgbClr val="D5DEE6"/>
                </a:solidFill>
                <a:latin typeface="Calibri"/>
              </a:rPr>
              <a:t>▸   Deux modules implémentés  —  Formateurs et Cours</a:t>
            </a:r>
          </a:p>
        </p:txBody>
      </p:sp>
      <p:sp>
        <p:nvSpPr>
          <p:cNvPr id="6" name="TextBox 5"/>
          <p:cNvSpPr txBox="1"/>
          <p:nvPr/>
        </p:nvSpPr>
        <p:spPr>
          <a:xfrm>
            <a:off x="777240" y="1645920"/>
            <a:ext cx="10789920" cy="457200"/>
          </a:xfrm>
          <a:prstGeom prst="rect">
            <a:avLst/>
          </a:prstGeom>
          <a:noFill/>
        </p:spPr>
        <p:txBody>
          <a:bodyPr wrap="square">
            <a:spAutoFit/>
          </a:bodyPr>
          <a:lstStyle/>
          <a:p>
            <a:pPr algn="l"/>
            <a:r>
              <a:rPr sz="1600" b="0">
                <a:solidFill>
                  <a:srgbClr val="D5DEE6"/>
                </a:solidFill>
                <a:latin typeface="Calibri"/>
              </a:rPr>
              <a:t>▸   CRUD opérationnel, avec validation C++ et Oracle</a:t>
            </a:r>
          </a:p>
        </p:txBody>
      </p:sp>
      <p:sp>
        <p:nvSpPr>
          <p:cNvPr id="7" name="TextBox 6"/>
          <p:cNvSpPr txBox="1"/>
          <p:nvPr/>
        </p:nvSpPr>
        <p:spPr>
          <a:xfrm>
            <a:off x="777240" y="2148840"/>
            <a:ext cx="10789920" cy="457200"/>
          </a:xfrm>
          <a:prstGeom prst="rect">
            <a:avLst/>
          </a:prstGeom>
          <a:noFill/>
        </p:spPr>
        <p:txBody>
          <a:bodyPr wrap="square">
            <a:spAutoFit/>
          </a:bodyPr>
          <a:lstStyle/>
          <a:p>
            <a:pPr algn="l"/>
            <a:r>
              <a:rPr sz="1600" b="0">
                <a:solidFill>
                  <a:srgbClr val="D5DEE6"/>
                </a:solidFill>
                <a:latin typeface="Calibri"/>
              </a:rPr>
              <a:t>▸   Métiers : recherche, tri, stats live, PDF, charge, conflits, affectation, alertes</a:t>
            </a:r>
          </a:p>
        </p:txBody>
      </p:sp>
      <p:sp>
        <p:nvSpPr>
          <p:cNvPr id="8" name="TextBox 7"/>
          <p:cNvSpPr txBox="1"/>
          <p:nvPr/>
        </p:nvSpPr>
        <p:spPr>
          <a:xfrm>
            <a:off x="777240" y="2651760"/>
            <a:ext cx="10789920" cy="457200"/>
          </a:xfrm>
          <a:prstGeom prst="rect">
            <a:avLst/>
          </a:prstGeom>
          <a:noFill/>
        </p:spPr>
        <p:txBody>
          <a:bodyPr wrap="square">
            <a:spAutoFit/>
          </a:bodyPr>
          <a:lstStyle/>
          <a:p>
            <a:pPr algn="l"/>
            <a:r>
              <a:rPr sz="1600" b="0">
                <a:solidFill>
                  <a:srgbClr val="D5DEE6"/>
                </a:solidFill>
                <a:latin typeface="Calibri"/>
              </a:rPr>
              <a:t>▸   Oracle intégré  —  PK, FK, CHECK, séquences, triggers</a:t>
            </a:r>
          </a:p>
        </p:txBody>
      </p:sp>
      <p:sp>
        <p:nvSpPr>
          <p:cNvPr id="9" name="TextBox 8"/>
          <p:cNvSpPr txBox="1"/>
          <p:nvPr/>
        </p:nvSpPr>
        <p:spPr>
          <a:xfrm>
            <a:off x="777240" y="3154680"/>
            <a:ext cx="10789920" cy="457200"/>
          </a:xfrm>
          <a:prstGeom prst="rect">
            <a:avLst/>
          </a:prstGeom>
          <a:noFill/>
        </p:spPr>
        <p:txBody>
          <a:bodyPr wrap="square">
            <a:spAutoFit/>
          </a:bodyPr>
          <a:lstStyle/>
          <a:p>
            <a:pPr algn="l"/>
            <a:r>
              <a:rPr sz="1600" b="0">
                <a:solidFill>
                  <a:srgbClr val="D5DEE6"/>
                </a:solidFill>
                <a:latin typeface="Calibri"/>
              </a:rPr>
              <a:t>▸   Application desktop Qt / C++  —  une connexion Singleton, requêtes préparées</a:t>
            </a:r>
          </a:p>
        </p:txBody>
      </p:sp>
      <p:sp>
        <p:nvSpPr>
          <p:cNvPr id="10" name="TextBox 9"/>
          <p:cNvSpPr txBox="1"/>
          <p:nvPr/>
        </p:nvSpPr>
        <p:spPr>
          <a:xfrm>
            <a:off x="777240" y="3657600"/>
            <a:ext cx="10789920" cy="457200"/>
          </a:xfrm>
          <a:prstGeom prst="rect">
            <a:avLst/>
          </a:prstGeom>
          <a:noFill/>
        </p:spPr>
        <p:txBody>
          <a:bodyPr wrap="square">
            <a:spAutoFit/>
          </a:bodyPr>
          <a:lstStyle/>
          <a:p>
            <a:pPr algn="l"/>
            <a:r>
              <a:rPr sz="1600" b="0">
                <a:solidFill>
                  <a:srgbClr val="D5DEE6"/>
                </a:solidFill>
                <a:latin typeface="Calibri"/>
              </a:rPr>
              <a:t>▸   Projet prêt pour la validation de septembre 2026</a:t>
            </a:r>
          </a:p>
        </p:txBody>
      </p:sp>
      <p:sp>
        <p:nvSpPr>
          <p:cNvPr id="11" name="Rectangle 10"/>
          <p:cNvSpPr/>
          <p:nvPr/>
        </p:nvSpPr>
        <p:spPr>
          <a:xfrm>
            <a:off x="777240" y="4297680"/>
            <a:ext cx="1828800" cy="54864"/>
          </a:xfrm>
          <a:prstGeom prst="rect">
            <a:avLst/>
          </a:prstGeom>
          <a:solidFill>
            <a:srgbClr val="1A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617720"/>
            <a:ext cx="10058400" cy="457200"/>
          </a:xfrm>
          <a:prstGeom prst="rect">
            <a:avLst/>
          </a:prstGeom>
          <a:noFill/>
        </p:spPr>
        <p:txBody>
          <a:bodyPr wrap="square">
            <a:spAutoFit/>
          </a:bodyPr>
          <a:lstStyle/>
          <a:p>
            <a:pPr algn="l"/>
            <a:r>
              <a:rPr sz="2600" b="1">
                <a:solidFill>
                  <a:srgbClr val="FFFFFF"/>
                </a:solidFill>
                <a:latin typeface="Calibri"/>
              </a:rPr>
              <a:t>Merci pour votre attention.</a:t>
            </a:r>
          </a:p>
        </p:txBody>
      </p:sp>
      <p:sp>
        <p:nvSpPr>
          <p:cNvPr id="13" name="TextBox 12"/>
          <p:cNvSpPr txBox="1"/>
          <p:nvPr/>
        </p:nvSpPr>
        <p:spPr>
          <a:xfrm>
            <a:off x="777240" y="5166360"/>
            <a:ext cx="10058400" cy="411480"/>
          </a:xfrm>
          <a:prstGeom prst="rect">
            <a:avLst/>
          </a:prstGeom>
          <a:noFill/>
        </p:spPr>
        <p:txBody>
          <a:bodyPr wrap="square">
            <a:spAutoFit/>
          </a:bodyPr>
          <a:lstStyle/>
          <a:p>
            <a:pPr algn="l"/>
            <a:r>
              <a:rPr sz="2200" b="1">
                <a:solidFill>
                  <a:srgbClr val="1AA396"/>
                </a:solidFill>
                <a:latin typeface="Calibri"/>
              </a:rPr>
              <a:t>Questions ?</a:t>
            </a:r>
          </a:p>
        </p:txBody>
      </p:sp>
      <p:sp>
        <p:nvSpPr>
          <p:cNvPr id="14" name="TextBox 13"/>
          <p:cNvSpPr txBox="1"/>
          <p:nvPr/>
        </p:nvSpPr>
        <p:spPr>
          <a:xfrm>
            <a:off x="777240" y="5943600"/>
            <a:ext cx="10058400" cy="320040"/>
          </a:xfrm>
          <a:prstGeom prst="rect">
            <a:avLst/>
          </a:prstGeom>
          <a:noFill/>
        </p:spPr>
        <p:txBody>
          <a:bodyPr wrap="square">
            <a:spAutoFit/>
          </a:bodyPr>
          <a:lstStyle/>
          <a:p>
            <a:pPr algn="l"/>
            <a:r>
              <a:rPr sz="1300" b="0">
                <a:solidFill>
                  <a:srgbClr val="9AB0BE"/>
                </a:solidFill>
                <a:latin typeface="Calibri"/>
              </a:rPr>
              <a:t>Shamsedine Tayeb  ·  GCentreFormation / FormaPlus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